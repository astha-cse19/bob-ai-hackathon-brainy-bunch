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Agbalumo" panose="020B0604020202020204" charset="0"/>
      <p:regular r:id="rId12"/>
    </p:embeddedFont>
    <p:embeddedFont>
      <p:font typeface="Aprila Bold" panose="020B0604020202020204" charset="0"/>
      <p:regular r:id="rId13"/>
    </p:embeddedFont>
    <p:embeddedFont>
      <p:font typeface="Aptos Bold" panose="020B0604020202020204" charset="0"/>
      <p:regular r:id="rId14"/>
    </p:embeddedFont>
    <p:embeddedFont>
      <p:font typeface="Arapey" panose="020B0604020202020204" charset="0"/>
      <p:regular r:id="rId15"/>
    </p:embeddedFont>
    <p:embeddedFont>
      <p:font typeface="Calibri (MS) Bold" panose="020B0604020202020204" charset="0"/>
      <p:regular r:id="rId16"/>
    </p:embeddedFont>
    <p:embeddedFont>
      <p:font typeface="Open Sans Bold" panose="020B0604020202020204" charset="0"/>
      <p:regular r:id="rId17"/>
    </p:embeddedFont>
    <p:embeddedFont>
      <p:font typeface="Poppins Bold" panose="020B0604020202020204" charset="0"/>
      <p:regular r:id="rId18"/>
    </p:embeddedFont>
    <p:embeddedFont>
      <p:font typeface="Raleway Bold" panose="020B0604020202020204" charset="0"/>
      <p:regular r:id="rId19"/>
    </p:embeddedFont>
    <p:embeddedFont>
      <p:font typeface="Times New Roman MT Semi-Bold" panose="020B0604020202020204" charset="0"/>
      <p:regular r:id="rId20"/>
    </p:embeddedFont>
    <p:embeddedFont>
      <p:font typeface="Work Sans Bold" panose="020B0604020202020204" charset="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10.fntdata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3211931" y="0"/>
            <a:ext cx="5076069" cy="10287000"/>
            <a:chOff x="0" y="0"/>
            <a:chExt cx="1336907" cy="270933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336907" cy="2709333"/>
            </a:xfrm>
            <a:custGeom>
              <a:avLst/>
              <a:gdLst/>
              <a:ahLst/>
              <a:cxnLst/>
              <a:rect l="l" t="t" r="r" b="b"/>
              <a:pathLst>
                <a:path w="1336907" h="2709333">
                  <a:moveTo>
                    <a:pt x="0" y="0"/>
                  </a:moveTo>
                  <a:lnTo>
                    <a:pt x="1336907" y="0"/>
                  </a:lnTo>
                  <a:lnTo>
                    <a:pt x="1336907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800AD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1336907" cy="27664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080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1028700" y="7773870"/>
            <a:ext cx="7872136" cy="0"/>
          </a:xfrm>
          <a:prstGeom prst="line">
            <a:avLst/>
          </a:prstGeom>
          <a:ln w="19050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>
            <a:off x="8900836" y="2527431"/>
            <a:ext cx="9337378" cy="5246439"/>
          </a:xfrm>
          <a:custGeom>
            <a:avLst/>
            <a:gdLst/>
            <a:ahLst/>
            <a:cxnLst/>
            <a:rect l="l" t="t" r="r" b="b"/>
            <a:pathLst>
              <a:path w="9337378" h="5246439">
                <a:moveTo>
                  <a:pt x="0" y="0"/>
                </a:moveTo>
                <a:lnTo>
                  <a:pt x="9337377" y="0"/>
                </a:lnTo>
                <a:lnTo>
                  <a:pt x="9337377" y="5246439"/>
                </a:lnTo>
                <a:lnTo>
                  <a:pt x="0" y="524643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  <a:ln w="152400" cap="sq">
            <a:solidFill>
              <a:srgbClr val="000000"/>
            </a:solidFill>
            <a:prstDash val="solid"/>
            <a:miter/>
          </a:ln>
        </p:spPr>
      </p:sp>
      <p:sp>
        <p:nvSpPr>
          <p:cNvPr id="7" name="TextBox 7"/>
          <p:cNvSpPr txBox="1"/>
          <p:nvPr/>
        </p:nvSpPr>
        <p:spPr>
          <a:xfrm>
            <a:off x="832964" y="3454923"/>
            <a:ext cx="7872136" cy="54041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130"/>
              </a:lnSpc>
            </a:pPr>
            <a:r>
              <a:rPr lang="en-US" sz="12205" b="1">
                <a:solidFill>
                  <a:srgbClr val="000000"/>
                </a:solidFill>
                <a:latin typeface="Poppins Bold"/>
                <a:ea typeface="Poppins Bold"/>
                <a:cs typeface="Poppins Bold"/>
                <a:sym typeface="Poppins Bold"/>
              </a:rPr>
              <a:t> PHARMAGUARD AI</a:t>
            </a:r>
          </a:p>
          <a:p>
            <a:pPr algn="l">
              <a:lnSpc>
                <a:spcPts val="10130"/>
              </a:lnSpc>
            </a:pPr>
            <a:endParaRPr lang="en-US" sz="12205" b="1">
              <a:solidFill>
                <a:srgbClr val="000000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D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739192" y="1409317"/>
            <a:ext cx="12573557" cy="11188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>
                <a:solidFill>
                  <a:srgbClr val="000000"/>
                </a:solidFill>
                <a:latin typeface="Work Sans Bold"/>
                <a:ea typeface="Work Sans Bold"/>
                <a:cs typeface="Work Sans Bold"/>
                <a:sym typeface="Work Sans Bold"/>
              </a:rPr>
              <a:t>🚨 Pharmaceutical safety teams face two major challenges</a:t>
            </a:r>
          </a:p>
          <a:p>
            <a:pPr algn="l">
              <a:lnSpc>
                <a:spcPts val="4480"/>
              </a:lnSpc>
              <a:spcBef>
                <a:spcPct val="0"/>
              </a:spcBef>
            </a:pPr>
            <a:endParaRPr lang="en-US" sz="3200" b="1">
              <a:solidFill>
                <a:srgbClr val="000000"/>
              </a:solidFill>
              <a:latin typeface="Work Sans Bold"/>
              <a:ea typeface="Work Sans Bold"/>
              <a:cs typeface="Work Sans Bold"/>
              <a:sym typeface="Work Sans Bold"/>
            </a:endParaRPr>
          </a:p>
        </p:txBody>
      </p:sp>
      <p:sp>
        <p:nvSpPr>
          <p:cNvPr id="3" name="TextBox 3"/>
          <p:cNvSpPr txBox="1"/>
          <p:nvPr/>
        </p:nvSpPr>
        <p:spPr>
          <a:xfrm>
            <a:off x="739192" y="5967"/>
            <a:ext cx="8761450" cy="25222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0080"/>
              </a:lnSpc>
            </a:pPr>
            <a:r>
              <a:rPr lang="en-US" sz="7200" b="1">
                <a:solidFill>
                  <a:srgbClr val="000000"/>
                </a:solidFill>
                <a:latin typeface="Raleway Bold"/>
                <a:ea typeface="Raleway Bold"/>
                <a:cs typeface="Raleway Bold"/>
                <a:sym typeface="Raleway Bold"/>
              </a:rPr>
              <a:t>The Problem</a:t>
            </a:r>
          </a:p>
          <a:p>
            <a:pPr algn="l">
              <a:lnSpc>
                <a:spcPts val="10080"/>
              </a:lnSpc>
              <a:spcBef>
                <a:spcPct val="0"/>
              </a:spcBef>
            </a:pPr>
            <a:endParaRPr lang="en-US" sz="7200" b="1">
              <a:solidFill>
                <a:srgbClr val="000000"/>
              </a:solidFill>
              <a:latin typeface="Raleway Bold"/>
              <a:ea typeface="Raleway Bold"/>
              <a:cs typeface="Raleway Bold"/>
              <a:sym typeface="Raleway Bold"/>
            </a:endParaRPr>
          </a:p>
        </p:txBody>
      </p:sp>
      <p:sp>
        <p:nvSpPr>
          <p:cNvPr id="4" name="AutoShape 4"/>
          <p:cNvSpPr/>
          <p:nvPr/>
        </p:nvSpPr>
        <p:spPr>
          <a:xfrm flipV="1">
            <a:off x="1028700" y="1362327"/>
            <a:ext cx="2661066" cy="0"/>
          </a:xfrm>
          <a:prstGeom prst="line">
            <a:avLst/>
          </a:prstGeom>
          <a:ln w="38100" cap="flat">
            <a:solidFill>
              <a:srgbClr val="A39A6F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5" name="Freeform 5"/>
          <p:cNvSpPr/>
          <p:nvPr/>
        </p:nvSpPr>
        <p:spPr>
          <a:xfrm>
            <a:off x="9500642" y="2528187"/>
            <a:ext cx="8341723" cy="4687006"/>
          </a:xfrm>
          <a:custGeom>
            <a:avLst/>
            <a:gdLst/>
            <a:ahLst/>
            <a:cxnLst/>
            <a:rect l="l" t="t" r="r" b="b"/>
            <a:pathLst>
              <a:path w="8341723" h="4687006">
                <a:moveTo>
                  <a:pt x="0" y="0"/>
                </a:moveTo>
                <a:lnTo>
                  <a:pt x="8341723" y="0"/>
                </a:lnTo>
                <a:lnTo>
                  <a:pt x="8341723" y="4687005"/>
                </a:lnTo>
                <a:lnTo>
                  <a:pt x="0" y="468700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374755" y="2135717"/>
            <a:ext cx="3757851" cy="588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 b="1">
                <a:solidFill>
                  <a:srgbClr val="000000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1. Safety surveillance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39192" y="2761827"/>
            <a:ext cx="8248174" cy="31930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endParaRPr lang="en-US" sz="3000" dirty="0">
              <a:solidFill>
                <a:srgbClr val="000000"/>
              </a:solidFill>
              <a:latin typeface="Arapey"/>
              <a:ea typeface="Arapey"/>
              <a:cs typeface="Arapey"/>
              <a:sym typeface="Arapey"/>
            </a:endParaRP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Thousands of adverse-event reports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Difficult to identify important drug-event patterns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Manual investigation takes time</a:t>
            </a:r>
          </a:p>
          <a:p>
            <a:pPr marL="647702" lvl="1" indent="-323851" algn="l">
              <a:lnSpc>
                <a:spcPts val="4200"/>
              </a:lnSpc>
              <a:buFont typeface="Arial"/>
              <a:buChar char="•"/>
            </a:pPr>
            <a:r>
              <a:rPr lang="en-US" sz="30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Emerging risks can be overlooked</a:t>
            </a:r>
          </a:p>
          <a:p>
            <a:pPr algn="l">
              <a:lnSpc>
                <a:spcPts val="4200"/>
              </a:lnSpc>
            </a:pPr>
            <a:endParaRPr lang="en-US" sz="3000" dirty="0">
              <a:solidFill>
                <a:srgbClr val="000000"/>
              </a:solidFill>
              <a:latin typeface="Arapey"/>
              <a:ea typeface="Arapey"/>
              <a:cs typeface="Arapey"/>
              <a:sym typeface="Arapey"/>
            </a:endParaRPr>
          </a:p>
        </p:txBody>
      </p:sp>
      <p:sp>
        <p:nvSpPr>
          <p:cNvPr id="8" name="TextBox 8"/>
          <p:cNvSpPr txBox="1"/>
          <p:nvPr/>
        </p:nvSpPr>
        <p:spPr>
          <a:xfrm>
            <a:off x="1702534" y="5295477"/>
            <a:ext cx="4555808" cy="5880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40"/>
              </a:lnSpc>
            </a:pPr>
            <a:r>
              <a:rPr lang="en-US" sz="3100" b="1">
                <a:solidFill>
                  <a:srgbClr val="000000"/>
                </a:solidFill>
                <a:latin typeface="Times New Roman MT Semi-Bold"/>
                <a:ea typeface="Times New Roman MT Semi-Bold"/>
                <a:cs typeface="Times New Roman MT Semi-Bold"/>
                <a:sym typeface="Times New Roman MT Semi-Bold"/>
              </a:rPr>
              <a:t>2. Regulatory submission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28700" y="5921586"/>
            <a:ext cx="8315801" cy="24652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23" lvl="1" indent="-302261" algn="l">
              <a:lnSpc>
                <a:spcPts val="3920"/>
              </a:lnSpc>
              <a:buFont typeface="Arial"/>
              <a:buChar char="•"/>
            </a:pPr>
            <a:endParaRPr lang="en-US" sz="2800" dirty="0">
              <a:solidFill>
                <a:srgbClr val="000000"/>
              </a:solidFill>
              <a:latin typeface="Arapey"/>
              <a:ea typeface="Arapey"/>
              <a:cs typeface="Arapey"/>
              <a:sym typeface="Arapey"/>
            </a:endParaRPr>
          </a:p>
          <a:p>
            <a:pPr marL="604523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CTD dossiers contain hundreds of requirements</a:t>
            </a:r>
          </a:p>
          <a:p>
            <a:pPr marL="604523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Missing sections create submission risk</a:t>
            </a:r>
          </a:p>
          <a:p>
            <a:pPr marL="604523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Manual completeness checks are inefficient</a:t>
            </a:r>
          </a:p>
          <a:p>
            <a:pPr marL="604523" lvl="1" indent="-302261" algn="l">
              <a:lnSpc>
                <a:spcPts val="3920"/>
              </a:lnSpc>
              <a:buFont typeface="Arial"/>
              <a:buChar char="•"/>
            </a:pPr>
            <a:r>
              <a:rPr lang="en-US" sz="2800" dirty="0">
                <a:solidFill>
                  <a:srgbClr val="000000"/>
                </a:solidFill>
                <a:latin typeface="Arapey"/>
                <a:ea typeface="Arapey"/>
                <a:cs typeface="Arapey"/>
                <a:sym typeface="Arapey"/>
              </a:rPr>
              <a:t>Regulatory teams need to prioritize what matters most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374755" y="8174566"/>
            <a:ext cx="17243058" cy="2015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583"/>
              </a:lnSpc>
            </a:pPr>
            <a:endParaRPr lang="en-US" sz="1845">
              <a:solidFill>
                <a:srgbClr val="000000"/>
              </a:solidFill>
              <a:latin typeface="Agbalumo"/>
              <a:ea typeface="Agbalumo"/>
              <a:cs typeface="Agbalumo"/>
              <a:sym typeface="Agbalumo"/>
            </a:endParaRPr>
          </a:p>
          <a:p>
            <a:pPr algn="l">
              <a:lnSpc>
                <a:spcPts val="2583"/>
              </a:lnSpc>
            </a:pPr>
            <a:r>
              <a:rPr lang="en-US" sz="1845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The real problem</a:t>
            </a:r>
          </a:p>
          <a:p>
            <a:pPr algn="l">
              <a:lnSpc>
                <a:spcPts val="2583"/>
              </a:lnSpc>
            </a:pPr>
            <a:r>
              <a:rPr lang="en-US" sz="1845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Data exists. But turning that data into actionable intelligence is slow and fragmented.</a:t>
            </a:r>
          </a:p>
          <a:p>
            <a:pPr algn="l">
              <a:lnSpc>
                <a:spcPts val="2583"/>
              </a:lnSpc>
            </a:pPr>
            <a:r>
              <a:rPr lang="en-US" sz="1845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What we asked</a:t>
            </a:r>
          </a:p>
          <a:p>
            <a:pPr algn="l">
              <a:lnSpc>
                <a:spcPts val="2863"/>
              </a:lnSpc>
            </a:pPr>
            <a:r>
              <a:rPr lang="en-US" sz="2045" dirty="0">
                <a:solidFill>
                  <a:srgbClr val="000000"/>
                </a:solidFill>
                <a:latin typeface="Agbalumo"/>
                <a:ea typeface="Agbalumo"/>
                <a:cs typeface="Agbalumo"/>
                <a:sym typeface="Agbalumo"/>
              </a:rPr>
              <a:t>Can we build one intelligent platform that detects safety signals AND identifies regulatory gaps?</a:t>
            </a:r>
          </a:p>
          <a:p>
            <a:pPr algn="l">
              <a:lnSpc>
                <a:spcPts val="2583"/>
              </a:lnSpc>
            </a:pPr>
            <a:endParaRPr lang="en-US" sz="2045" dirty="0">
              <a:solidFill>
                <a:srgbClr val="000000"/>
              </a:solidFill>
              <a:latin typeface="Agbalumo"/>
              <a:ea typeface="Agbalumo"/>
              <a:cs typeface="Agbalumo"/>
              <a:sym typeface="Agbalum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D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430838" y="1138419"/>
            <a:ext cx="16326987" cy="9112737"/>
          </a:xfrm>
          <a:custGeom>
            <a:avLst/>
            <a:gdLst/>
            <a:ahLst/>
            <a:cxnLst/>
            <a:rect l="l" t="t" r="r" b="b"/>
            <a:pathLst>
              <a:path w="16326987" h="9112737">
                <a:moveTo>
                  <a:pt x="0" y="0"/>
                </a:moveTo>
                <a:lnTo>
                  <a:pt x="16326986" y="0"/>
                </a:lnTo>
                <a:lnTo>
                  <a:pt x="16326986" y="9112737"/>
                </a:lnTo>
                <a:lnTo>
                  <a:pt x="0" y="911273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430838" y="-38100"/>
            <a:ext cx="9085406" cy="23149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107"/>
              </a:lnSpc>
            </a:pPr>
            <a:r>
              <a:rPr lang="en-US" sz="7404" b="1" u="sng">
                <a:solidFill>
                  <a:srgbClr val="1800AD"/>
                </a:solidFill>
                <a:latin typeface="Aprila Bold"/>
                <a:ea typeface="Aprila Bold"/>
                <a:cs typeface="Aprila Bold"/>
                <a:sym typeface="Aprila Bold"/>
              </a:rPr>
              <a:t>OUR SOLUTION</a:t>
            </a:r>
          </a:p>
          <a:p>
            <a:pPr algn="l">
              <a:lnSpc>
                <a:spcPts val="9107"/>
              </a:lnSpc>
            </a:pPr>
            <a:endParaRPr lang="en-US" sz="7404" b="1" u="sng">
              <a:solidFill>
                <a:srgbClr val="1800AD"/>
              </a:solidFill>
              <a:latin typeface="Aprila Bold"/>
              <a:ea typeface="Aprila Bold"/>
              <a:cs typeface="Aprila Bold"/>
              <a:sym typeface="Aprila Bold"/>
            </a:endParaRPr>
          </a:p>
        </p:txBody>
      </p:sp>
      <p:sp>
        <p:nvSpPr>
          <p:cNvPr id="4" name="TextBox 4"/>
          <p:cNvSpPr txBox="1"/>
          <p:nvPr/>
        </p:nvSpPr>
        <p:spPr>
          <a:xfrm>
            <a:off x="7379682" y="7535178"/>
            <a:ext cx="466122" cy="2232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91"/>
              </a:lnSpc>
              <a:spcBef>
                <a:spcPct val="0"/>
              </a:spcBef>
            </a:pPr>
            <a:r>
              <a:rPr lang="en-US" sz="1279" b="1">
                <a:solidFill>
                  <a:srgbClr val="0D0D0D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D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39872"/>
            <a:ext cx="18288000" cy="10207256"/>
          </a:xfrm>
          <a:custGeom>
            <a:avLst/>
            <a:gdLst/>
            <a:ahLst/>
            <a:cxnLst/>
            <a:rect l="l" t="t" r="r" b="b"/>
            <a:pathLst>
              <a:path w="18288000" h="10207256">
                <a:moveTo>
                  <a:pt x="0" y="0"/>
                </a:moveTo>
                <a:lnTo>
                  <a:pt x="18288000" y="0"/>
                </a:lnTo>
                <a:lnTo>
                  <a:pt x="18288000" y="10207256"/>
                </a:lnTo>
                <a:lnTo>
                  <a:pt x="0" y="1020725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D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10171" y="0"/>
            <a:ext cx="18298171" cy="10281285"/>
          </a:xfrm>
          <a:custGeom>
            <a:avLst/>
            <a:gdLst/>
            <a:ahLst/>
            <a:cxnLst/>
            <a:rect l="l" t="t" r="r" b="b"/>
            <a:pathLst>
              <a:path w="18298171" h="10281285">
                <a:moveTo>
                  <a:pt x="0" y="0"/>
                </a:moveTo>
                <a:lnTo>
                  <a:pt x="18298171" y="0"/>
                </a:lnTo>
                <a:lnTo>
                  <a:pt x="18298171" y="10281285"/>
                </a:lnTo>
                <a:lnTo>
                  <a:pt x="0" y="1028128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D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715"/>
            <a:ext cx="18288000" cy="10275570"/>
          </a:xfrm>
          <a:custGeom>
            <a:avLst/>
            <a:gdLst/>
            <a:ahLst/>
            <a:cxnLst/>
            <a:rect l="l" t="t" r="r" b="b"/>
            <a:pathLst>
              <a:path w="18288000" h="10275570">
                <a:moveTo>
                  <a:pt x="0" y="0"/>
                </a:moveTo>
                <a:lnTo>
                  <a:pt x="18288000" y="0"/>
                </a:lnTo>
                <a:lnTo>
                  <a:pt x="18288000" y="10275570"/>
                </a:lnTo>
                <a:lnTo>
                  <a:pt x="0" y="10275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D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5715"/>
            <a:ext cx="18288000" cy="10275570"/>
          </a:xfrm>
          <a:custGeom>
            <a:avLst/>
            <a:gdLst/>
            <a:ahLst/>
            <a:cxnLst/>
            <a:rect l="l" t="t" r="r" b="b"/>
            <a:pathLst>
              <a:path w="18288000" h="10275570">
                <a:moveTo>
                  <a:pt x="0" y="0"/>
                </a:moveTo>
                <a:lnTo>
                  <a:pt x="18288000" y="0"/>
                </a:lnTo>
                <a:lnTo>
                  <a:pt x="18288000" y="10275570"/>
                </a:lnTo>
                <a:lnTo>
                  <a:pt x="0" y="1027557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9DD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78421"/>
            <a:ext cx="18288000" cy="10208579"/>
          </a:xfrm>
          <a:custGeom>
            <a:avLst/>
            <a:gdLst/>
            <a:ahLst/>
            <a:cxnLst/>
            <a:rect l="l" t="t" r="r" b="b"/>
            <a:pathLst>
              <a:path w="18288000" h="10208579">
                <a:moveTo>
                  <a:pt x="0" y="0"/>
                </a:moveTo>
                <a:lnTo>
                  <a:pt x="18288000" y="0"/>
                </a:lnTo>
                <a:lnTo>
                  <a:pt x="18288000" y="10208579"/>
                </a:lnTo>
                <a:lnTo>
                  <a:pt x="0" y="102085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852" t="-788" b="-788"/>
            </a:stretch>
          </a:blipFill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70E1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96147" y="521618"/>
            <a:ext cx="1921745" cy="384353"/>
            <a:chOff x="0" y="0"/>
            <a:chExt cx="2562327" cy="51247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562322" cy="512464"/>
            </a:xfrm>
            <a:custGeom>
              <a:avLst/>
              <a:gdLst/>
              <a:ahLst/>
              <a:cxnLst/>
              <a:rect l="l" t="t" r="r" b="b"/>
              <a:pathLst>
                <a:path w="2562322" h="512464">
                  <a:moveTo>
                    <a:pt x="0" y="0"/>
                  </a:moveTo>
                  <a:lnTo>
                    <a:pt x="2562322" y="0"/>
                  </a:lnTo>
                  <a:lnTo>
                    <a:pt x="2562322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7424" b="-47425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2562327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r>
                <a:rPr lang="en-US" sz="1801" b="1">
                  <a:solidFill>
                    <a:srgbClr val="39D3B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FEATURE 05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96147" y="1070686"/>
            <a:ext cx="7961500" cy="754971"/>
            <a:chOff x="0" y="0"/>
            <a:chExt cx="10615333" cy="100662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0615333" cy="1006626"/>
            </a:xfrm>
            <a:custGeom>
              <a:avLst/>
              <a:gdLst/>
              <a:ahLst/>
              <a:cxnLst/>
              <a:rect l="l" t="t" r="r" b="b"/>
              <a:pathLst>
                <a:path w="10615333" h="1006626">
                  <a:moveTo>
                    <a:pt x="0" y="0"/>
                  </a:moveTo>
                  <a:lnTo>
                    <a:pt x="10615333" y="0"/>
                  </a:lnTo>
                  <a:lnTo>
                    <a:pt x="10615333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55478" b="-155478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0615333" cy="10066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404"/>
                </a:lnSpc>
              </a:pPr>
              <a:r>
                <a:rPr lang="en-US" sz="4503" b="1">
                  <a:solidFill>
                    <a:srgbClr val="F2F6F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Regulatory Copilot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823608" y="1839382"/>
            <a:ext cx="7549696" cy="466706"/>
            <a:chOff x="0" y="0"/>
            <a:chExt cx="10066261" cy="62227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0066265" cy="622278"/>
            </a:xfrm>
            <a:custGeom>
              <a:avLst/>
              <a:gdLst/>
              <a:ahLst/>
              <a:cxnLst/>
              <a:rect l="l" t="t" r="r" b="b"/>
              <a:pathLst>
                <a:path w="10066265" h="622278">
                  <a:moveTo>
                    <a:pt x="0" y="0"/>
                  </a:moveTo>
                  <a:lnTo>
                    <a:pt x="10066265" y="0"/>
                  </a:lnTo>
                  <a:lnTo>
                    <a:pt x="10066265" y="622278"/>
                  </a:lnTo>
                  <a:lnTo>
                    <a:pt x="0" y="62227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65199" b="-265198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10066261" cy="6222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702"/>
                </a:lnSpc>
              </a:pPr>
              <a:r>
                <a:rPr lang="en-US" sz="2251">
                  <a:solidFill>
                    <a:srgbClr val="9DAEC6"/>
                  </a:solidFill>
                  <a:latin typeface="Aptos"/>
                  <a:ea typeface="Aptos"/>
                  <a:cs typeface="Aptos"/>
                  <a:sym typeface="Aptos"/>
                </a:rPr>
                <a:t>Turning analytics into action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816454" y="2765650"/>
            <a:ext cx="5573620" cy="5024552"/>
            <a:chOff x="0" y="0"/>
            <a:chExt cx="7431494" cy="669940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431532" cy="6699377"/>
            </a:xfrm>
            <a:custGeom>
              <a:avLst/>
              <a:gdLst/>
              <a:ahLst/>
              <a:cxnLst/>
              <a:rect l="l" t="t" r="r" b="b"/>
              <a:pathLst>
                <a:path w="7431532" h="6699377">
                  <a:moveTo>
                    <a:pt x="0" y="803910"/>
                  </a:moveTo>
                  <a:cubicBezTo>
                    <a:pt x="0" y="359918"/>
                    <a:pt x="359918" y="0"/>
                    <a:pt x="803910" y="0"/>
                  </a:cubicBezTo>
                  <a:lnTo>
                    <a:pt x="6627622" y="0"/>
                  </a:lnTo>
                  <a:cubicBezTo>
                    <a:pt x="7071614" y="0"/>
                    <a:pt x="7431532" y="359918"/>
                    <a:pt x="7431532" y="803910"/>
                  </a:cubicBezTo>
                  <a:lnTo>
                    <a:pt x="7431532" y="5895467"/>
                  </a:lnTo>
                  <a:cubicBezTo>
                    <a:pt x="7431532" y="6339459"/>
                    <a:pt x="7071614" y="6699377"/>
                    <a:pt x="6627622" y="6699377"/>
                  </a:cubicBezTo>
                  <a:lnTo>
                    <a:pt x="803910" y="6699377"/>
                  </a:lnTo>
                  <a:cubicBezTo>
                    <a:pt x="359918" y="6699377"/>
                    <a:pt x="0" y="6339459"/>
                    <a:pt x="0" y="5895467"/>
                  </a:cubicBezTo>
                  <a:close/>
                </a:path>
              </a:pathLst>
            </a:custGeom>
            <a:solidFill>
              <a:srgbClr val="101B2F"/>
            </a:solidFill>
            <a:ln w="14299" cap="sq">
              <a:solidFill>
                <a:srgbClr val="101B2F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1207951" y="3157147"/>
            <a:ext cx="2882608" cy="384353"/>
            <a:chOff x="0" y="0"/>
            <a:chExt cx="3843477" cy="512470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3843483" cy="512464"/>
            </a:xfrm>
            <a:custGeom>
              <a:avLst/>
              <a:gdLst/>
              <a:ahLst/>
              <a:cxnLst/>
              <a:rect l="l" t="t" r="r" b="b"/>
              <a:pathLst>
                <a:path w="3843483" h="512464">
                  <a:moveTo>
                    <a:pt x="0" y="0"/>
                  </a:moveTo>
                  <a:lnTo>
                    <a:pt x="3843483" y="0"/>
                  </a:lnTo>
                  <a:lnTo>
                    <a:pt x="3843483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6136" b="-96138"/>
              </a:stretch>
            </a:blipFill>
          </p:spPr>
        </p:sp>
        <p:sp>
          <p:nvSpPr>
            <p:cNvPr id="15" name="TextBox 15"/>
            <p:cNvSpPr txBox="1"/>
            <p:nvPr/>
          </p:nvSpPr>
          <p:spPr>
            <a:xfrm>
              <a:off x="0" y="0"/>
              <a:ext cx="3843477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1"/>
                </a:lnSpc>
              </a:pPr>
              <a:r>
                <a:rPr lang="en-US" sz="1501" b="1">
                  <a:solidFill>
                    <a:srgbClr val="9DAEC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ASK PHARMAGUARD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200798" y="3863788"/>
            <a:ext cx="4791199" cy="1688963"/>
            <a:chOff x="0" y="0"/>
            <a:chExt cx="6388265" cy="2251951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6388227" cy="2251964"/>
            </a:xfrm>
            <a:custGeom>
              <a:avLst/>
              <a:gdLst/>
              <a:ahLst/>
              <a:cxnLst/>
              <a:rect l="l" t="t" r="r" b="b"/>
              <a:pathLst>
                <a:path w="6388227" h="2251964">
                  <a:moveTo>
                    <a:pt x="0" y="270256"/>
                  </a:moveTo>
                  <a:cubicBezTo>
                    <a:pt x="0" y="121031"/>
                    <a:pt x="121031" y="0"/>
                    <a:pt x="270256" y="0"/>
                  </a:cubicBezTo>
                  <a:lnTo>
                    <a:pt x="6117971" y="0"/>
                  </a:lnTo>
                  <a:cubicBezTo>
                    <a:pt x="6267196" y="0"/>
                    <a:pt x="6388227" y="121031"/>
                    <a:pt x="6388227" y="270256"/>
                  </a:cubicBezTo>
                  <a:lnTo>
                    <a:pt x="6388227" y="1981708"/>
                  </a:lnTo>
                  <a:cubicBezTo>
                    <a:pt x="6388227" y="2130933"/>
                    <a:pt x="6267196" y="2251964"/>
                    <a:pt x="6117971" y="2251964"/>
                  </a:cubicBezTo>
                  <a:lnTo>
                    <a:pt x="270256" y="2251964"/>
                  </a:lnTo>
                  <a:cubicBezTo>
                    <a:pt x="121031" y="2251964"/>
                    <a:pt x="0" y="2130933"/>
                    <a:pt x="0" y="1981708"/>
                  </a:cubicBezTo>
                  <a:close/>
                </a:path>
              </a:pathLst>
            </a:custGeom>
            <a:solidFill>
              <a:srgbClr val="070E1C"/>
            </a:solidFill>
            <a:ln w="14299" cap="sq">
              <a:solidFill>
                <a:srgbClr val="070E1C"/>
              </a:solidFill>
              <a:prstDash val="solid"/>
              <a:miter/>
            </a:ln>
          </p:spPr>
        </p:sp>
      </p:grpSp>
      <p:grpSp>
        <p:nvGrpSpPr>
          <p:cNvPr id="18" name="Group 18"/>
          <p:cNvGrpSpPr/>
          <p:nvPr/>
        </p:nvGrpSpPr>
        <p:grpSpPr>
          <a:xfrm>
            <a:off x="1537392" y="4118019"/>
            <a:ext cx="4118019" cy="411804"/>
            <a:chOff x="0" y="0"/>
            <a:chExt cx="5490693" cy="549072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5490690" cy="549069"/>
            </a:xfrm>
            <a:custGeom>
              <a:avLst/>
              <a:gdLst/>
              <a:ahLst/>
              <a:cxnLst/>
              <a:rect l="l" t="t" r="r" b="b"/>
              <a:pathLst>
                <a:path w="5490690" h="549069">
                  <a:moveTo>
                    <a:pt x="0" y="0"/>
                  </a:moveTo>
                  <a:lnTo>
                    <a:pt x="5490690" y="0"/>
                  </a:lnTo>
                  <a:lnTo>
                    <a:pt x="549069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5490693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2"/>
                </a:lnSpc>
              </a:pPr>
              <a:r>
                <a:rPr lang="en-US" sz="2551" b="1">
                  <a:solidFill>
                    <a:srgbClr val="F2F6F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“What should we fix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537392" y="4598451"/>
            <a:ext cx="4118019" cy="411804"/>
            <a:chOff x="0" y="0"/>
            <a:chExt cx="5490693" cy="549072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5490690" cy="549069"/>
            </a:xfrm>
            <a:custGeom>
              <a:avLst/>
              <a:gdLst/>
              <a:ahLst/>
              <a:cxnLst/>
              <a:rect l="l" t="t" r="r" b="b"/>
              <a:pathLst>
                <a:path w="5490690" h="549069">
                  <a:moveTo>
                    <a:pt x="0" y="0"/>
                  </a:moveTo>
                  <a:lnTo>
                    <a:pt x="5490690" y="0"/>
                  </a:lnTo>
                  <a:lnTo>
                    <a:pt x="549069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44850" b="-144850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5490693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062"/>
                </a:lnSpc>
              </a:pPr>
              <a:r>
                <a:rPr lang="en-US" sz="2551" b="1">
                  <a:solidFill>
                    <a:srgbClr val="39D3B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before submission?”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1235402" y="6122118"/>
            <a:ext cx="3019882" cy="329441"/>
            <a:chOff x="0" y="0"/>
            <a:chExt cx="4026510" cy="439255"/>
          </a:xfrm>
        </p:grpSpPr>
        <p:sp>
          <p:nvSpPr>
            <p:cNvPr id="25" name="Freeform 25"/>
            <p:cNvSpPr/>
            <p:nvPr/>
          </p:nvSpPr>
          <p:spPr>
            <a:xfrm>
              <a:off x="0" y="0"/>
              <a:ext cx="4026506" cy="439255"/>
            </a:xfrm>
            <a:custGeom>
              <a:avLst/>
              <a:gdLst/>
              <a:ahLst/>
              <a:cxnLst/>
              <a:rect l="l" t="t" r="r" b="b"/>
              <a:pathLst>
                <a:path w="4026506" h="439255">
                  <a:moveTo>
                    <a:pt x="0" y="0"/>
                  </a:moveTo>
                  <a:lnTo>
                    <a:pt x="4026506" y="0"/>
                  </a:lnTo>
                  <a:lnTo>
                    <a:pt x="4026506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28613" b="-128612"/>
              </a:stretch>
            </a:blipFill>
          </p:spPr>
        </p:sp>
        <p:sp>
          <p:nvSpPr>
            <p:cNvPr id="26" name="TextBox 26"/>
            <p:cNvSpPr txBox="1"/>
            <p:nvPr/>
          </p:nvSpPr>
          <p:spPr>
            <a:xfrm>
              <a:off x="0" y="0"/>
              <a:ext cx="4026510" cy="4392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1"/>
                </a:lnSpc>
              </a:pPr>
              <a:r>
                <a:rPr lang="en-US" sz="1501" b="1">
                  <a:solidFill>
                    <a:srgbClr val="9DAEC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Current CTD completeness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969078" y="5957402"/>
            <a:ext cx="796147" cy="521618"/>
            <a:chOff x="0" y="0"/>
            <a:chExt cx="1061530" cy="695490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61533" cy="695487"/>
            </a:xfrm>
            <a:custGeom>
              <a:avLst/>
              <a:gdLst/>
              <a:ahLst/>
              <a:cxnLst/>
              <a:rect l="l" t="t" r="r" b="b"/>
              <a:pathLst>
                <a:path w="1061533" h="695487">
                  <a:moveTo>
                    <a:pt x="0" y="0"/>
                  </a:moveTo>
                  <a:lnTo>
                    <a:pt x="1061533" y="0"/>
                  </a:lnTo>
                  <a:lnTo>
                    <a:pt x="1061533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34061" r="-34061"/>
              </a:stretch>
            </a:blipFill>
          </p:spPr>
        </p:sp>
        <p:sp>
          <p:nvSpPr>
            <p:cNvPr id="29" name="TextBox 29"/>
            <p:cNvSpPr txBox="1"/>
            <p:nvPr/>
          </p:nvSpPr>
          <p:spPr>
            <a:xfrm>
              <a:off x="0" y="0"/>
              <a:ext cx="1061530" cy="6954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3602"/>
                </a:lnSpc>
              </a:pPr>
              <a:r>
                <a:rPr lang="en-US" sz="3002" b="1">
                  <a:solidFill>
                    <a:srgbClr val="FFBB4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78%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1228258" y="6609131"/>
            <a:ext cx="4750022" cy="233924"/>
            <a:chOff x="0" y="0"/>
            <a:chExt cx="6333363" cy="311899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6333490" cy="311912"/>
            </a:xfrm>
            <a:custGeom>
              <a:avLst/>
              <a:gdLst/>
              <a:ahLst/>
              <a:cxnLst/>
              <a:rect l="l" t="t" r="r" b="b"/>
              <a:pathLst>
                <a:path w="6333490" h="311912">
                  <a:moveTo>
                    <a:pt x="0" y="37465"/>
                  </a:moveTo>
                  <a:cubicBezTo>
                    <a:pt x="0" y="16764"/>
                    <a:pt x="16764" y="0"/>
                    <a:pt x="37465" y="0"/>
                  </a:cubicBezTo>
                  <a:lnTo>
                    <a:pt x="6296025" y="0"/>
                  </a:lnTo>
                  <a:cubicBezTo>
                    <a:pt x="6316726" y="0"/>
                    <a:pt x="6333490" y="16764"/>
                    <a:pt x="6333490" y="37465"/>
                  </a:cubicBezTo>
                  <a:lnTo>
                    <a:pt x="6333490" y="274447"/>
                  </a:lnTo>
                  <a:cubicBezTo>
                    <a:pt x="6333490" y="295148"/>
                    <a:pt x="6316726" y="311912"/>
                    <a:pt x="6296025" y="311912"/>
                  </a:cubicBezTo>
                  <a:lnTo>
                    <a:pt x="37465" y="311912"/>
                  </a:lnTo>
                  <a:cubicBezTo>
                    <a:pt x="16764" y="311912"/>
                    <a:pt x="0" y="295148"/>
                    <a:pt x="0" y="274447"/>
                  </a:cubicBezTo>
                  <a:close/>
                </a:path>
              </a:pathLst>
            </a:custGeom>
            <a:solidFill>
              <a:srgbClr val="16243D"/>
            </a:solidFill>
            <a:ln w="14299" cap="sq">
              <a:solidFill>
                <a:srgbClr val="16243D"/>
              </a:solidFill>
              <a:prstDash val="solid"/>
              <a:miter/>
            </a:ln>
          </p:spPr>
        </p:sp>
      </p:grpSp>
      <p:grpSp>
        <p:nvGrpSpPr>
          <p:cNvPr id="32" name="Group 32"/>
          <p:cNvGrpSpPr/>
          <p:nvPr/>
        </p:nvGrpSpPr>
        <p:grpSpPr>
          <a:xfrm>
            <a:off x="1228258" y="6609131"/>
            <a:ext cx="3706787" cy="233924"/>
            <a:chOff x="0" y="0"/>
            <a:chExt cx="4942383" cy="311899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4942459" cy="311912"/>
            </a:xfrm>
            <a:custGeom>
              <a:avLst/>
              <a:gdLst/>
              <a:ahLst/>
              <a:cxnLst/>
              <a:rect l="l" t="t" r="r" b="b"/>
              <a:pathLst>
                <a:path w="4942459" h="311912">
                  <a:moveTo>
                    <a:pt x="0" y="37465"/>
                  </a:moveTo>
                  <a:cubicBezTo>
                    <a:pt x="0" y="16764"/>
                    <a:pt x="16764" y="0"/>
                    <a:pt x="37465" y="0"/>
                  </a:cubicBezTo>
                  <a:lnTo>
                    <a:pt x="4904994" y="0"/>
                  </a:lnTo>
                  <a:cubicBezTo>
                    <a:pt x="4925695" y="0"/>
                    <a:pt x="4942459" y="16764"/>
                    <a:pt x="4942459" y="37465"/>
                  </a:cubicBezTo>
                  <a:lnTo>
                    <a:pt x="4942459" y="274447"/>
                  </a:lnTo>
                  <a:cubicBezTo>
                    <a:pt x="4942459" y="295148"/>
                    <a:pt x="4925695" y="311912"/>
                    <a:pt x="4904994" y="311912"/>
                  </a:cubicBezTo>
                  <a:lnTo>
                    <a:pt x="37465" y="311912"/>
                  </a:lnTo>
                  <a:cubicBezTo>
                    <a:pt x="16764" y="311912"/>
                    <a:pt x="0" y="295148"/>
                    <a:pt x="0" y="274447"/>
                  </a:cubicBezTo>
                  <a:close/>
                </a:path>
              </a:pathLst>
            </a:custGeom>
            <a:solidFill>
              <a:srgbClr val="FFBB4D"/>
            </a:solidFill>
            <a:ln w="14299" cap="sq">
              <a:solidFill>
                <a:srgbClr val="FFBB4D"/>
              </a:solidFill>
              <a:prstDash val="solid"/>
              <a:miter/>
            </a:ln>
          </p:spPr>
        </p:sp>
      </p:grpSp>
      <p:grpSp>
        <p:nvGrpSpPr>
          <p:cNvPr id="34" name="Group 34"/>
          <p:cNvGrpSpPr/>
          <p:nvPr/>
        </p:nvGrpSpPr>
        <p:grpSpPr>
          <a:xfrm>
            <a:off x="1235402" y="7165353"/>
            <a:ext cx="4598451" cy="411804"/>
            <a:chOff x="0" y="0"/>
            <a:chExt cx="6131268" cy="549072"/>
          </a:xfrm>
        </p:grpSpPr>
        <p:sp>
          <p:nvSpPr>
            <p:cNvPr id="35" name="Freeform 35"/>
            <p:cNvSpPr/>
            <p:nvPr/>
          </p:nvSpPr>
          <p:spPr>
            <a:xfrm>
              <a:off x="0" y="0"/>
              <a:ext cx="6131270" cy="549069"/>
            </a:xfrm>
            <a:custGeom>
              <a:avLst/>
              <a:gdLst/>
              <a:ahLst/>
              <a:cxnLst/>
              <a:rect l="l" t="t" r="r" b="b"/>
              <a:pathLst>
                <a:path w="6131270" h="549069">
                  <a:moveTo>
                    <a:pt x="0" y="0"/>
                  </a:moveTo>
                  <a:lnTo>
                    <a:pt x="6131270" y="0"/>
                  </a:lnTo>
                  <a:lnTo>
                    <a:pt x="6131270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7582" b="-167583"/>
              </a:stretch>
            </a:blipFill>
          </p:spPr>
        </p:sp>
        <p:sp>
          <p:nvSpPr>
            <p:cNvPr id="36" name="TextBox 36"/>
            <p:cNvSpPr txBox="1"/>
            <p:nvPr/>
          </p:nvSpPr>
          <p:spPr>
            <a:xfrm>
              <a:off x="0" y="0"/>
              <a:ext cx="6131268" cy="54907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91"/>
                </a:lnSpc>
              </a:pPr>
              <a:r>
                <a:rPr lang="en-US" sz="1576">
                  <a:solidFill>
                    <a:srgbClr val="F2F6FC"/>
                  </a:solidFill>
                  <a:latin typeface="Aptos"/>
                  <a:ea typeface="Aptos"/>
                  <a:cs typeface="Aptos"/>
                  <a:sym typeface="Aptos"/>
                </a:rPr>
                <a:t>AI converts scattered gaps into a clear action plan.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6932000" y="2813980"/>
            <a:ext cx="4255284" cy="384353"/>
            <a:chOff x="0" y="0"/>
            <a:chExt cx="5673712" cy="512470"/>
          </a:xfrm>
        </p:grpSpPr>
        <p:sp>
          <p:nvSpPr>
            <p:cNvPr id="38" name="Freeform 38"/>
            <p:cNvSpPr/>
            <p:nvPr/>
          </p:nvSpPr>
          <p:spPr>
            <a:xfrm>
              <a:off x="0" y="0"/>
              <a:ext cx="5673713" cy="512464"/>
            </a:xfrm>
            <a:custGeom>
              <a:avLst/>
              <a:gdLst/>
              <a:ahLst/>
              <a:cxnLst/>
              <a:rect l="l" t="t" r="r" b="b"/>
              <a:pathLst>
                <a:path w="5673713" h="512464">
                  <a:moveTo>
                    <a:pt x="0" y="0"/>
                  </a:moveTo>
                  <a:lnTo>
                    <a:pt x="5673713" y="0"/>
                  </a:lnTo>
                  <a:lnTo>
                    <a:pt x="5673713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65726" b="-165727"/>
              </a:stretch>
            </a:blipFill>
          </p:spPr>
        </p:sp>
        <p:sp>
          <p:nvSpPr>
            <p:cNvPr id="39" name="TextBox 39"/>
            <p:cNvSpPr txBox="1"/>
            <p:nvPr/>
          </p:nvSpPr>
          <p:spPr>
            <a:xfrm>
              <a:off x="0" y="0"/>
              <a:ext cx="5673712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801"/>
                </a:lnSpc>
              </a:pPr>
              <a:r>
                <a:rPr lang="en-US" sz="1501" b="1">
                  <a:solidFill>
                    <a:srgbClr val="9DAEC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PRIORITIZED RECOMMENDATIONS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932000" y="3253235"/>
            <a:ext cx="4392549" cy="521618"/>
            <a:chOff x="0" y="0"/>
            <a:chExt cx="5856732" cy="695490"/>
          </a:xfrm>
        </p:grpSpPr>
        <p:sp>
          <p:nvSpPr>
            <p:cNvPr id="41" name="Freeform 41"/>
            <p:cNvSpPr/>
            <p:nvPr/>
          </p:nvSpPr>
          <p:spPr>
            <a:xfrm>
              <a:off x="0" y="0"/>
              <a:ext cx="5856736" cy="695487"/>
            </a:xfrm>
            <a:custGeom>
              <a:avLst/>
              <a:gdLst/>
              <a:ahLst/>
              <a:cxnLst/>
              <a:rect l="l" t="t" r="r" b="b"/>
              <a:pathLst>
                <a:path w="5856736" h="695487">
                  <a:moveTo>
                    <a:pt x="0" y="0"/>
                  </a:moveTo>
                  <a:lnTo>
                    <a:pt x="5856736" y="0"/>
                  </a:lnTo>
                  <a:lnTo>
                    <a:pt x="5856736" y="695487"/>
                  </a:lnTo>
                  <a:lnTo>
                    <a:pt x="0" y="69548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14084" b="-114084"/>
              </a:stretch>
            </a:blipFill>
          </p:spPr>
        </p:sp>
        <p:sp>
          <p:nvSpPr>
            <p:cNvPr id="42" name="TextBox 42"/>
            <p:cNvSpPr txBox="1"/>
            <p:nvPr/>
          </p:nvSpPr>
          <p:spPr>
            <a:xfrm>
              <a:off x="0" y="0"/>
              <a:ext cx="5856732" cy="69549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422"/>
                </a:lnSpc>
              </a:pPr>
              <a:r>
                <a:rPr lang="en-US" sz="2852" b="1">
                  <a:solidFill>
                    <a:srgbClr val="F2F6F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What to fix next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924846" y="3973601"/>
            <a:ext cx="10515238" cy="796719"/>
            <a:chOff x="0" y="0"/>
            <a:chExt cx="14020317" cy="1062292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14020420" cy="1062355"/>
            </a:xfrm>
            <a:custGeom>
              <a:avLst/>
              <a:gdLst/>
              <a:ahLst/>
              <a:cxnLst/>
              <a:rect l="l" t="t" r="r" b="b"/>
              <a:pathLst>
                <a:path w="14020420" h="1062355">
                  <a:moveTo>
                    <a:pt x="0" y="127508"/>
                  </a:moveTo>
                  <a:cubicBezTo>
                    <a:pt x="0" y="57023"/>
                    <a:pt x="57023" y="0"/>
                    <a:pt x="127508" y="0"/>
                  </a:cubicBezTo>
                  <a:lnTo>
                    <a:pt x="13892912" y="0"/>
                  </a:lnTo>
                  <a:cubicBezTo>
                    <a:pt x="13963270" y="0"/>
                    <a:pt x="14020420" y="57023"/>
                    <a:pt x="14020420" y="127508"/>
                  </a:cubicBezTo>
                  <a:lnTo>
                    <a:pt x="14020420" y="934847"/>
                  </a:lnTo>
                  <a:cubicBezTo>
                    <a:pt x="14020420" y="1005205"/>
                    <a:pt x="13963397" y="1062355"/>
                    <a:pt x="13892912" y="1062355"/>
                  </a:cubicBezTo>
                  <a:lnTo>
                    <a:pt x="127508" y="1062355"/>
                  </a:lnTo>
                  <a:cubicBezTo>
                    <a:pt x="57023" y="1062355"/>
                    <a:pt x="0" y="1005205"/>
                    <a:pt x="0" y="934847"/>
                  </a:cubicBezTo>
                  <a:close/>
                </a:path>
              </a:pathLst>
            </a:custGeom>
            <a:solidFill>
              <a:srgbClr val="101B2F"/>
            </a:solidFill>
            <a:ln w="14299" cap="sq">
              <a:solidFill>
                <a:srgbClr val="101B2F"/>
              </a:solidFill>
              <a:prstDash val="solid"/>
              <a:miter/>
            </a:ln>
          </p:spPr>
        </p:sp>
      </p:grpSp>
      <p:grpSp>
        <p:nvGrpSpPr>
          <p:cNvPr id="45" name="Group 45"/>
          <p:cNvGrpSpPr/>
          <p:nvPr/>
        </p:nvGrpSpPr>
        <p:grpSpPr>
          <a:xfrm>
            <a:off x="7130748" y="4097141"/>
            <a:ext cx="563366" cy="549640"/>
            <a:chOff x="0" y="0"/>
            <a:chExt cx="751154" cy="732854"/>
          </a:xfrm>
        </p:grpSpPr>
        <p:sp>
          <p:nvSpPr>
            <p:cNvPr id="46" name="Freeform 46"/>
            <p:cNvSpPr/>
            <p:nvPr/>
          </p:nvSpPr>
          <p:spPr>
            <a:xfrm>
              <a:off x="0" y="0"/>
              <a:ext cx="751078" cy="732790"/>
            </a:xfrm>
            <a:custGeom>
              <a:avLst/>
              <a:gdLst/>
              <a:ahLst/>
              <a:cxnLst/>
              <a:rect l="l" t="t" r="r" b="b"/>
              <a:pathLst>
                <a:path w="751078" h="732790">
                  <a:moveTo>
                    <a:pt x="0" y="87884"/>
                  </a:moveTo>
                  <a:cubicBezTo>
                    <a:pt x="0" y="39370"/>
                    <a:pt x="39370" y="0"/>
                    <a:pt x="87884" y="0"/>
                  </a:cubicBezTo>
                  <a:lnTo>
                    <a:pt x="663194" y="0"/>
                  </a:lnTo>
                  <a:cubicBezTo>
                    <a:pt x="711708" y="0"/>
                    <a:pt x="751078" y="39370"/>
                    <a:pt x="751078" y="87884"/>
                  </a:cubicBezTo>
                  <a:lnTo>
                    <a:pt x="751078" y="644906"/>
                  </a:lnTo>
                  <a:cubicBezTo>
                    <a:pt x="751078" y="693420"/>
                    <a:pt x="711708" y="732790"/>
                    <a:pt x="663194" y="732790"/>
                  </a:cubicBezTo>
                  <a:lnTo>
                    <a:pt x="87884" y="732790"/>
                  </a:lnTo>
                  <a:cubicBezTo>
                    <a:pt x="39370" y="732917"/>
                    <a:pt x="0" y="693420"/>
                    <a:pt x="0" y="644906"/>
                  </a:cubicBezTo>
                  <a:close/>
                </a:path>
              </a:pathLst>
            </a:custGeom>
            <a:solidFill>
              <a:srgbClr val="FF5B69"/>
            </a:solidFill>
            <a:ln w="14299" cap="sq">
              <a:solidFill>
                <a:srgbClr val="FF5B69"/>
              </a:solidFill>
              <a:prstDash val="solid"/>
              <a:miter/>
            </a:ln>
          </p:spPr>
        </p:sp>
      </p:grpSp>
      <p:grpSp>
        <p:nvGrpSpPr>
          <p:cNvPr id="47" name="Group 47"/>
          <p:cNvGrpSpPr/>
          <p:nvPr/>
        </p:nvGrpSpPr>
        <p:grpSpPr>
          <a:xfrm>
            <a:off x="7137892" y="4090568"/>
            <a:ext cx="549069" cy="535343"/>
            <a:chOff x="0" y="0"/>
            <a:chExt cx="732092" cy="713791"/>
          </a:xfrm>
        </p:grpSpPr>
        <p:sp>
          <p:nvSpPr>
            <p:cNvPr id="48" name="Freeform 48"/>
            <p:cNvSpPr/>
            <p:nvPr/>
          </p:nvSpPr>
          <p:spPr>
            <a:xfrm>
              <a:off x="0" y="0"/>
              <a:ext cx="732092" cy="713790"/>
            </a:xfrm>
            <a:custGeom>
              <a:avLst/>
              <a:gdLst/>
              <a:ahLst/>
              <a:cxnLst/>
              <a:rect l="l" t="t" r="r" b="b"/>
              <a:pathLst>
                <a:path w="732092" h="713790">
                  <a:moveTo>
                    <a:pt x="0" y="0"/>
                  </a:moveTo>
                  <a:lnTo>
                    <a:pt x="732092" y="0"/>
                  </a:lnTo>
                  <a:lnTo>
                    <a:pt x="732092" y="713790"/>
                  </a:lnTo>
                  <a:lnTo>
                    <a:pt x="0" y="7137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5096" r="-75096"/>
              </a:stretch>
            </a:blipFill>
          </p:spPr>
        </p:sp>
        <p:sp>
          <p:nvSpPr>
            <p:cNvPr id="49" name="TextBox 49"/>
            <p:cNvSpPr txBox="1"/>
            <p:nvPr/>
          </p:nvSpPr>
          <p:spPr>
            <a:xfrm>
              <a:off x="0" y="-9525"/>
              <a:ext cx="732092" cy="723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1"/>
                </a:lnSpc>
              </a:pPr>
              <a:r>
                <a:rPr lang="en-US" sz="1351" b="1">
                  <a:solidFill>
                    <a:srgbClr val="070E1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988951" y="4008206"/>
            <a:ext cx="8167402" cy="686333"/>
            <a:chOff x="0" y="0"/>
            <a:chExt cx="10889869" cy="915111"/>
          </a:xfrm>
        </p:grpSpPr>
        <p:sp>
          <p:nvSpPr>
            <p:cNvPr id="51" name="Freeform 51"/>
            <p:cNvSpPr/>
            <p:nvPr/>
          </p:nvSpPr>
          <p:spPr>
            <a:xfrm>
              <a:off x="0" y="0"/>
              <a:ext cx="10889868" cy="915115"/>
            </a:xfrm>
            <a:custGeom>
              <a:avLst/>
              <a:gdLst/>
              <a:ahLst/>
              <a:cxnLst/>
              <a:rect l="l" t="t" r="r" b="b"/>
              <a:pathLst>
                <a:path w="10889868" h="915115">
                  <a:moveTo>
                    <a:pt x="0" y="0"/>
                  </a:moveTo>
                  <a:lnTo>
                    <a:pt x="10889868" y="0"/>
                  </a:lnTo>
                  <a:lnTo>
                    <a:pt x="10889868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1872" b="-181871"/>
              </a:stretch>
            </a:blipFill>
          </p:spPr>
        </p:sp>
        <p:sp>
          <p:nvSpPr>
            <p:cNvPr id="52" name="TextBox 52"/>
            <p:cNvSpPr txBox="1"/>
            <p:nvPr/>
          </p:nvSpPr>
          <p:spPr>
            <a:xfrm>
              <a:off x="0" y="0"/>
              <a:ext cx="10889869" cy="9151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r>
                <a:rPr lang="en-US" sz="1801" b="1">
                  <a:solidFill>
                    <a:srgbClr val="F2F6F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Resolve critical gaps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5785735" y="4035657"/>
            <a:ext cx="1304039" cy="603980"/>
            <a:chOff x="0" y="0"/>
            <a:chExt cx="1738719" cy="805307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1738718" cy="805301"/>
            </a:xfrm>
            <a:custGeom>
              <a:avLst/>
              <a:gdLst/>
              <a:ahLst/>
              <a:cxnLst/>
              <a:rect l="l" t="t" r="r" b="b"/>
              <a:pathLst>
                <a:path w="1738718" h="805301">
                  <a:moveTo>
                    <a:pt x="0" y="0"/>
                  </a:moveTo>
                  <a:lnTo>
                    <a:pt x="1738718" y="0"/>
                  </a:lnTo>
                  <a:lnTo>
                    <a:pt x="1738718" y="805301"/>
                  </a:lnTo>
                  <a:lnTo>
                    <a:pt x="0" y="8053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425" r="-9425"/>
              </a:stretch>
            </a:blipFill>
          </p:spPr>
        </p:sp>
        <p:sp>
          <p:nvSpPr>
            <p:cNvPr id="55" name="TextBox 55"/>
            <p:cNvSpPr txBox="1"/>
            <p:nvPr/>
          </p:nvSpPr>
          <p:spPr>
            <a:xfrm>
              <a:off x="0" y="0"/>
              <a:ext cx="1738719" cy="8053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1"/>
                </a:lnSpc>
              </a:pPr>
              <a:r>
                <a:rPr lang="en-US" sz="1200" b="1">
                  <a:solidFill>
                    <a:srgbClr val="FF5B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ACTION  →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6924846" y="4907013"/>
            <a:ext cx="10515238" cy="796719"/>
            <a:chOff x="0" y="0"/>
            <a:chExt cx="14020317" cy="1062292"/>
          </a:xfrm>
        </p:grpSpPr>
        <p:sp>
          <p:nvSpPr>
            <p:cNvPr id="57" name="Freeform 57"/>
            <p:cNvSpPr/>
            <p:nvPr/>
          </p:nvSpPr>
          <p:spPr>
            <a:xfrm>
              <a:off x="0" y="0"/>
              <a:ext cx="14020420" cy="1062355"/>
            </a:xfrm>
            <a:custGeom>
              <a:avLst/>
              <a:gdLst/>
              <a:ahLst/>
              <a:cxnLst/>
              <a:rect l="l" t="t" r="r" b="b"/>
              <a:pathLst>
                <a:path w="14020420" h="1062355">
                  <a:moveTo>
                    <a:pt x="0" y="127508"/>
                  </a:moveTo>
                  <a:cubicBezTo>
                    <a:pt x="0" y="57023"/>
                    <a:pt x="57023" y="0"/>
                    <a:pt x="127508" y="0"/>
                  </a:cubicBezTo>
                  <a:lnTo>
                    <a:pt x="13892912" y="0"/>
                  </a:lnTo>
                  <a:cubicBezTo>
                    <a:pt x="13963270" y="0"/>
                    <a:pt x="14020420" y="57023"/>
                    <a:pt x="14020420" y="127508"/>
                  </a:cubicBezTo>
                  <a:lnTo>
                    <a:pt x="14020420" y="934847"/>
                  </a:lnTo>
                  <a:cubicBezTo>
                    <a:pt x="14020420" y="1005205"/>
                    <a:pt x="13963397" y="1062355"/>
                    <a:pt x="13892912" y="1062355"/>
                  </a:cubicBezTo>
                  <a:lnTo>
                    <a:pt x="127508" y="1062355"/>
                  </a:lnTo>
                  <a:cubicBezTo>
                    <a:pt x="57023" y="1062355"/>
                    <a:pt x="0" y="1005205"/>
                    <a:pt x="0" y="934847"/>
                  </a:cubicBezTo>
                  <a:close/>
                </a:path>
              </a:pathLst>
            </a:custGeom>
            <a:solidFill>
              <a:srgbClr val="101B2F"/>
            </a:solidFill>
            <a:ln w="14299" cap="sq">
              <a:solidFill>
                <a:srgbClr val="101B2F"/>
              </a:solidFill>
              <a:prstDash val="solid"/>
              <a:miter/>
            </a:ln>
          </p:spPr>
        </p:sp>
      </p:grpSp>
      <p:grpSp>
        <p:nvGrpSpPr>
          <p:cNvPr id="58" name="Group 58"/>
          <p:cNvGrpSpPr/>
          <p:nvPr/>
        </p:nvGrpSpPr>
        <p:grpSpPr>
          <a:xfrm>
            <a:off x="7130748" y="5030562"/>
            <a:ext cx="563366" cy="549640"/>
            <a:chOff x="0" y="0"/>
            <a:chExt cx="751154" cy="732854"/>
          </a:xfrm>
        </p:grpSpPr>
        <p:sp>
          <p:nvSpPr>
            <p:cNvPr id="59" name="Freeform 59"/>
            <p:cNvSpPr/>
            <p:nvPr/>
          </p:nvSpPr>
          <p:spPr>
            <a:xfrm>
              <a:off x="0" y="0"/>
              <a:ext cx="751078" cy="732790"/>
            </a:xfrm>
            <a:custGeom>
              <a:avLst/>
              <a:gdLst/>
              <a:ahLst/>
              <a:cxnLst/>
              <a:rect l="l" t="t" r="r" b="b"/>
              <a:pathLst>
                <a:path w="751078" h="732790">
                  <a:moveTo>
                    <a:pt x="0" y="87884"/>
                  </a:moveTo>
                  <a:cubicBezTo>
                    <a:pt x="0" y="39370"/>
                    <a:pt x="39370" y="0"/>
                    <a:pt x="87884" y="0"/>
                  </a:cubicBezTo>
                  <a:lnTo>
                    <a:pt x="663194" y="0"/>
                  </a:lnTo>
                  <a:cubicBezTo>
                    <a:pt x="711708" y="0"/>
                    <a:pt x="751078" y="39370"/>
                    <a:pt x="751078" y="87884"/>
                  </a:cubicBezTo>
                  <a:lnTo>
                    <a:pt x="751078" y="644906"/>
                  </a:lnTo>
                  <a:cubicBezTo>
                    <a:pt x="751078" y="693420"/>
                    <a:pt x="711708" y="732790"/>
                    <a:pt x="663194" y="732790"/>
                  </a:cubicBezTo>
                  <a:lnTo>
                    <a:pt x="87884" y="732790"/>
                  </a:lnTo>
                  <a:cubicBezTo>
                    <a:pt x="39370" y="732917"/>
                    <a:pt x="0" y="693420"/>
                    <a:pt x="0" y="644906"/>
                  </a:cubicBezTo>
                  <a:close/>
                </a:path>
              </a:pathLst>
            </a:custGeom>
            <a:solidFill>
              <a:srgbClr val="FFBB4D"/>
            </a:solidFill>
            <a:ln w="14299" cap="sq">
              <a:solidFill>
                <a:srgbClr val="FFBB4D"/>
              </a:solidFill>
              <a:prstDash val="solid"/>
              <a:miter/>
            </a:ln>
          </p:spPr>
        </p:sp>
      </p:grpSp>
      <p:grpSp>
        <p:nvGrpSpPr>
          <p:cNvPr id="60" name="Group 60"/>
          <p:cNvGrpSpPr/>
          <p:nvPr/>
        </p:nvGrpSpPr>
        <p:grpSpPr>
          <a:xfrm>
            <a:off x="7137892" y="5023980"/>
            <a:ext cx="549069" cy="535343"/>
            <a:chOff x="0" y="0"/>
            <a:chExt cx="732092" cy="713791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732092" cy="713790"/>
            </a:xfrm>
            <a:custGeom>
              <a:avLst/>
              <a:gdLst/>
              <a:ahLst/>
              <a:cxnLst/>
              <a:rect l="l" t="t" r="r" b="b"/>
              <a:pathLst>
                <a:path w="732092" h="713790">
                  <a:moveTo>
                    <a:pt x="0" y="0"/>
                  </a:moveTo>
                  <a:lnTo>
                    <a:pt x="732092" y="0"/>
                  </a:lnTo>
                  <a:lnTo>
                    <a:pt x="732092" y="713790"/>
                  </a:lnTo>
                  <a:lnTo>
                    <a:pt x="0" y="7137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5096" r="-75096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-9525"/>
              <a:ext cx="732092" cy="723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1"/>
                </a:lnSpc>
              </a:pPr>
              <a:r>
                <a:rPr lang="en-US" sz="1351" b="1">
                  <a:solidFill>
                    <a:srgbClr val="070E1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7988951" y="4941618"/>
            <a:ext cx="8167402" cy="686333"/>
            <a:chOff x="0" y="0"/>
            <a:chExt cx="10889869" cy="915111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10889868" cy="915115"/>
            </a:xfrm>
            <a:custGeom>
              <a:avLst/>
              <a:gdLst/>
              <a:ahLst/>
              <a:cxnLst/>
              <a:rect l="l" t="t" r="r" b="b"/>
              <a:pathLst>
                <a:path w="10889868" h="915115">
                  <a:moveTo>
                    <a:pt x="0" y="0"/>
                  </a:moveTo>
                  <a:lnTo>
                    <a:pt x="10889868" y="0"/>
                  </a:lnTo>
                  <a:lnTo>
                    <a:pt x="10889868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1872" b="-181871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0"/>
              <a:ext cx="10889869" cy="9151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F2F6FC"/>
                  </a:solidFill>
                  <a:latin typeface="Aptos"/>
                  <a:ea typeface="Aptos"/>
                  <a:cs typeface="Aptos"/>
                  <a:sym typeface="Aptos"/>
                </a:rPr>
                <a:t>Review major gaps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15785735" y="4969078"/>
            <a:ext cx="1304039" cy="603980"/>
            <a:chOff x="0" y="0"/>
            <a:chExt cx="1738719" cy="805307"/>
          </a:xfrm>
        </p:grpSpPr>
        <p:sp>
          <p:nvSpPr>
            <p:cNvPr id="67" name="Freeform 67"/>
            <p:cNvSpPr/>
            <p:nvPr/>
          </p:nvSpPr>
          <p:spPr>
            <a:xfrm>
              <a:off x="0" y="0"/>
              <a:ext cx="1738718" cy="805301"/>
            </a:xfrm>
            <a:custGeom>
              <a:avLst/>
              <a:gdLst/>
              <a:ahLst/>
              <a:cxnLst/>
              <a:rect l="l" t="t" r="r" b="b"/>
              <a:pathLst>
                <a:path w="1738718" h="805301">
                  <a:moveTo>
                    <a:pt x="0" y="0"/>
                  </a:moveTo>
                  <a:lnTo>
                    <a:pt x="1738718" y="0"/>
                  </a:lnTo>
                  <a:lnTo>
                    <a:pt x="1738718" y="805301"/>
                  </a:lnTo>
                  <a:lnTo>
                    <a:pt x="0" y="8053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425" r="-9425"/>
              </a:stretch>
            </a:blipFill>
          </p:spPr>
        </p:sp>
        <p:sp>
          <p:nvSpPr>
            <p:cNvPr id="68" name="TextBox 68"/>
            <p:cNvSpPr txBox="1"/>
            <p:nvPr/>
          </p:nvSpPr>
          <p:spPr>
            <a:xfrm>
              <a:off x="0" y="0"/>
              <a:ext cx="1738719" cy="8053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1"/>
                </a:lnSpc>
              </a:pPr>
              <a:r>
                <a:rPr lang="en-US" sz="1200" b="1">
                  <a:solidFill>
                    <a:srgbClr val="FFBB4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ACTION  →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6924846" y="5840435"/>
            <a:ext cx="10515238" cy="796719"/>
            <a:chOff x="0" y="0"/>
            <a:chExt cx="14020317" cy="1062292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14020420" cy="1062355"/>
            </a:xfrm>
            <a:custGeom>
              <a:avLst/>
              <a:gdLst/>
              <a:ahLst/>
              <a:cxnLst/>
              <a:rect l="l" t="t" r="r" b="b"/>
              <a:pathLst>
                <a:path w="14020420" h="1062355">
                  <a:moveTo>
                    <a:pt x="0" y="127508"/>
                  </a:moveTo>
                  <a:cubicBezTo>
                    <a:pt x="0" y="57023"/>
                    <a:pt x="57023" y="0"/>
                    <a:pt x="127508" y="0"/>
                  </a:cubicBezTo>
                  <a:lnTo>
                    <a:pt x="13892912" y="0"/>
                  </a:lnTo>
                  <a:cubicBezTo>
                    <a:pt x="13963270" y="0"/>
                    <a:pt x="14020420" y="57023"/>
                    <a:pt x="14020420" y="127508"/>
                  </a:cubicBezTo>
                  <a:lnTo>
                    <a:pt x="14020420" y="934847"/>
                  </a:lnTo>
                  <a:cubicBezTo>
                    <a:pt x="14020420" y="1005205"/>
                    <a:pt x="13963397" y="1062355"/>
                    <a:pt x="13892912" y="1062355"/>
                  </a:cubicBezTo>
                  <a:lnTo>
                    <a:pt x="127508" y="1062355"/>
                  </a:lnTo>
                  <a:cubicBezTo>
                    <a:pt x="57023" y="1062355"/>
                    <a:pt x="0" y="1005205"/>
                    <a:pt x="0" y="934847"/>
                  </a:cubicBezTo>
                  <a:close/>
                </a:path>
              </a:pathLst>
            </a:custGeom>
            <a:solidFill>
              <a:srgbClr val="101B2F"/>
            </a:solidFill>
            <a:ln w="14299" cap="sq">
              <a:solidFill>
                <a:srgbClr val="101B2F"/>
              </a:solidFill>
              <a:prstDash val="solid"/>
              <a:miter/>
            </a:ln>
          </p:spPr>
        </p:sp>
      </p:grpSp>
      <p:grpSp>
        <p:nvGrpSpPr>
          <p:cNvPr id="71" name="Group 71"/>
          <p:cNvGrpSpPr/>
          <p:nvPr/>
        </p:nvGrpSpPr>
        <p:grpSpPr>
          <a:xfrm>
            <a:off x="7130748" y="5963974"/>
            <a:ext cx="563366" cy="549640"/>
            <a:chOff x="0" y="0"/>
            <a:chExt cx="751154" cy="732854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751078" cy="732790"/>
            </a:xfrm>
            <a:custGeom>
              <a:avLst/>
              <a:gdLst/>
              <a:ahLst/>
              <a:cxnLst/>
              <a:rect l="l" t="t" r="r" b="b"/>
              <a:pathLst>
                <a:path w="751078" h="732790">
                  <a:moveTo>
                    <a:pt x="0" y="87884"/>
                  </a:moveTo>
                  <a:cubicBezTo>
                    <a:pt x="0" y="39370"/>
                    <a:pt x="39370" y="0"/>
                    <a:pt x="87884" y="0"/>
                  </a:cubicBezTo>
                  <a:lnTo>
                    <a:pt x="663194" y="0"/>
                  </a:lnTo>
                  <a:cubicBezTo>
                    <a:pt x="711708" y="0"/>
                    <a:pt x="751078" y="39370"/>
                    <a:pt x="751078" y="87884"/>
                  </a:cubicBezTo>
                  <a:lnTo>
                    <a:pt x="751078" y="644906"/>
                  </a:lnTo>
                  <a:cubicBezTo>
                    <a:pt x="751078" y="693420"/>
                    <a:pt x="711708" y="732790"/>
                    <a:pt x="663194" y="732790"/>
                  </a:cubicBezTo>
                  <a:lnTo>
                    <a:pt x="87884" y="732790"/>
                  </a:lnTo>
                  <a:cubicBezTo>
                    <a:pt x="39370" y="732917"/>
                    <a:pt x="0" y="693420"/>
                    <a:pt x="0" y="644906"/>
                  </a:cubicBezTo>
                  <a:close/>
                </a:path>
              </a:pathLst>
            </a:custGeom>
            <a:solidFill>
              <a:srgbClr val="4C89FF"/>
            </a:solidFill>
            <a:ln w="14299" cap="sq">
              <a:solidFill>
                <a:srgbClr val="4C89FF"/>
              </a:solidFill>
              <a:prstDash val="solid"/>
              <a:miter/>
            </a:ln>
          </p:spPr>
        </p:sp>
      </p:grpSp>
      <p:grpSp>
        <p:nvGrpSpPr>
          <p:cNvPr id="73" name="Group 73"/>
          <p:cNvGrpSpPr/>
          <p:nvPr/>
        </p:nvGrpSpPr>
        <p:grpSpPr>
          <a:xfrm>
            <a:off x="7137892" y="5957402"/>
            <a:ext cx="549069" cy="535343"/>
            <a:chOff x="0" y="0"/>
            <a:chExt cx="732092" cy="713791"/>
          </a:xfrm>
        </p:grpSpPr>
        <p:sp>
          <p:nvSpPr>
            <p:cNvPr id="74" name="Freeform 74"/>
            <p:cNvSpPr/>
            <p:nvPr/>
          </p:nvSpPr>
          <p:spPr>
            <a:xfrm>
              <a:off x="0" y="0"/>
              <a:ext cx="732092" cy="713790"/>
            </a:xfrm>
            <a:custGeom>
              <a:avLst/>
              <a:gdLst/>
              <a:ahLst/>
              <a:cxnLst/>
              <a:rect l="l" t="t" r="r" b="b"/>
              <a:pathLst>
                <a:path w="732092" h="713790">
                  <a:moveTo>
                    <a:pt x="0" y="0"/>
                  </a:moveTo>
                  <a:lnTo>
                    <a:pt x="732092" y="0"/>
                  </a:lnTo>
                  <a:lnTo>
                    <a:pt x="732092" y="713790"/>
                  </a:lnTo>
                  <a:lnTo>
                    <a:pt x="0" y="7137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5096" r="-75096"/>
              </a:stretch>
            </a:blipFill>
          </p:spPr>
        </p:sp>
        <p:sp>
          <p:nvSpPr>
            <p:cNvPr id="75" name="TextBox 75"/>
            <p:cNvSpPr txBox="1"/>
            <p:nvPr/>
          </p:nvSpPr>
          <p:spPr>
            <a:xfrm>
              <a:off x="0" y="-9525"/>
              <a:ext cx="732092" cy="723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1"/>
                </a:lnSpc>
              </a:pPr>
              <a:r>
                <a:rPr lang="en-US" sz="1351" b="1">
                  <a:solidFill>
                    <a:srgbClr val="070E1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7988951" y="5875039"/>
            <a:ext cx="8167402" cy="686333"/>
            <a:chOff x="0" y="0"/>
            <a:chExt cx="10889869" cy="915111"/>
          </a:xfrm>
        </p:grpSpPr>
        <p:sp>
          <p:nvSpPr>
            <p:cNvPr id="77" name="Freeform 77"/>
            <p:cNvSpPr/>
            <p:nvPr/>
          </p:nvSpPr>
          <p:spPr>
            <a:xfrm>
              <a:off x="0" y="0"/>
              <a:ext cx="10889868" cy="915115"/>
            </a:xfrm>
            <a:custGeom>
              <a:avLst/>
              <a:gdLst/>
              <a:ahLst/>
              <a:cxnLst/>
              <a:rect l="l" t="t" r="r" b="b"/>
              <a:pathLst>
                <a:path w="10889868" h="915115">
                  <a:moveTo>
                    <a:pt x="0" y="0"/>
                  </a:moveTo>
                  <a:lnTo>
                    <a:pt x="10889868" y="0"/>
                  </a:lnTo>
                  <a:lnTo>
                    <a:pt x="10889868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1872" b="-181871"/>
              </a:stretch>
            </a:blipFill>
          </p:spPr>
        </p:sp>
        <p:sp>
          <p:nvSpPr>
            <p:cNvPr id="78" name="TextBox 78"/>
            <p:cNvSpPr txBox="1"/>
            <p:nvPr/>
          </p:nvSpPr>
          <p:spPr>
            <a:xfrm>
              <a:off x="0" y="0"/>
              <a:ext cx="10889869" cy="9151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F2F6FC"/>
                  </a:solidFill>
                  <a:latin typeface="Aptos"/>
                  <a:ea typeface="Aptos"/>
                  <a:cs typeface="Aptos"/>
                  <a:sym typeface="Aptos"/>
                </a:rPr>
                <a:t>Validate Module 2 summaries</a:t>
              </a:r>
            </a:p>
          </p:txBody>
        </p:sp>
      </p:grpSp>
      <p:grpSp>
        <p:nvGrpSpPr>
          <p:cNvPr id="79" name="Group 79"/>
          <p:cNvGrpSpPr/>
          <p:nvPr/>
        </p:nvGrpSpPr>
        <p:grpSpPr>
          <a:xfrm>
            <a:off x="15785735" y="5902490"/>
            <a:ext cx="1304039" cy="603980"/>
            <a:chOff x="0" y="0"/>
            <a:chExt cx="1738719" cy="805307"/>
          </a:xfrm>
        </p:grpSpPr>
        <p:sp>
          <p:nvSpPr>
            <p:cNvPr id="80" name="Freeform 80"/>
            <p:cNvSpPr/>
            <p:nvPr/>
          </p:nvSpPr>
          <p:spPr>
            <a:xfrm>
              <a:off x="0" y="0"/>
              <a:ext cx="1738718" cy="805301"/>
            </a:xfrm>
            <a:custGeom>
              <a:avLst/>
              <a:gdLst/>
              <a:ahLst/>
              <a:cxnLst/>
              <a:rect l="l" t="t" r="r" b="b"/>
              <a:pathLst>
                <a:path w="1738718" h="805301">
                  <a:moveTo>
                    <a:pt x="0" y="0"/>
                  </a:moveTo>
                  <a:lnTo>
                    <a:pt x="1738718" y="0"/>
                  </a:lnTo>
                  <a:lnTo>
                    <a:pt x="1738718" y="805301"/>
                  </a:lnTo>
                  <a:lnTo>
                    <a:pt x="0" y="8053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425" r="-9425"/>
              </a:stretch>
            </a:blipFill>
          </p:spPr>
        </p:sp>
        <p:sp>
          <p:nvSpPr>
            <p:cNvPr id="81" name="TextBox 81"/>
            <p:cNvSpPr txBox="1"/>
            <p:nvPr/>
          </p:nvSpPr>
          <p:spPr>
            <a:xfrm>
              <a:off x="0" y="0"/>
              <a:ext cx="1738719" cy="8053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1"/>
                </a:lnSpc>
              </a:pPr>
              <a:r>
                <a:rPr lang="en-US" sz="1200" b="1">
                  <a:solidFill>
                    <a:srgbClr val="4C89FF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ACTION  →</a:t>
              </a: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6924846" y="6773856"/>
            <a:ext cx="10515238" cy="796719"/>
            <a:chOff x="0" y="0"/>
            <a:chExt cx="14020317" cy="1062292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14020420" cy="1062355"/>
            </a:xfrm>
            <a:custGeom>
              <a:avLst/>
              <a:gdLst/>
              <a:ahLst/>
              <a:cxnLst/>
              <a:rect l="l" t="t" r="r" b="b"/>
              <a:pathLst>
                <a:path w="14020420" h="1062355">
                  <a:moveTo>
                    <a:pt x="0" y="127508"/>
                  </a:moveTo>
                  <a:cubicBezTo>
                    <a:pt x="0" y="57023"/>
                    <a:pt x="57023" y="0"/>
                    <a:pt x="127508" y="0"/>
                  </a:cubicBezTo>
                  <a:lnTo>
                    <a:pt x="13892912" y="0"/>
                  </a:lnTo>
                  <a:cubicBezTo>
                    <a:pt x="13963270" y="0"/>
                    <a:pt x="14020420" y="57023"/>
                    <a:pt x="14020420" y="127508"/>
                  </a:cubicBezTo>
                  <a:lnTo>
                    <a:pt x="14020420" y="934847"/>
                  </a:lnTo>
                  <a:cubicBezTo>
                    <a:pt x="14020420" y="1005205"/>
                    <a:pt x="13963397" y="1062355"/>
                    <a:pt x="13892912" y="1062355"/>
                  </a:cubicBezTo>
                  <a:lnTo>
                    <a:pt x="127508" y="1062355"/>
                  </a:lnTo>
                  <a:cubicBezTo>
                    <a:pt x="57023" y="1062355"/>
                    <a:pt x="0" y="1005205"/>
                    <a:pt x="0" y="934847"/>
                  </a:cubicBezTo>
                  <a:close/>
                </a:path>
              </a:pathLst>
            </a:custGeom>
            <a:solidFill>
              <a:srgbClr val="101B2F"/>
            </a:solidFill>
            <a:ln w="14299" cap="sq">
              <a:solidFill>
                <a:srgbClr val="101B2F"/>
              </a:solidFill>
              <a:prstDash val="solid"/>
              <a:miter/>
            </a:ln>
          </p:spPr>
        </p:sp>
      </p:grpSp>
      <p:grpSp>
        <p:nvGrpSpPr>
          <p:cNvPr id="84" name="Group 84"/>
          <p:cNvGrpSpPr/>
          <p:nvPr/>
        </p:nvGrpSpPr>
        <p:grpSpPr>
          <a:xfrm>
            <a:off x="7130748" y="6897395"/>
            <a:ext cx="563366" cy="549640"/>
            <a:chOff x="0" y="0"/>
            <a:chExt cx="751154" cy="732854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751078" cy="732790"/>
            </a:xfrm>
            <a:custGeom>
              <a:avLst/>
              <a:gdLst/>
              <a:ahLst/>
              <a:cxnLst/>
              <a:rect l="l" t="t" r="r" b="b"/>
              <a:pathLst>
                <a:path w="751078" h="732790">
                  <a:moveTo>
                    <a:pt x="0" y="87884"/>
                  </a:moveTo>
                  <a:cubicBezTo>
                    <a:pt x="0" y="39370"/>
                    <a:pt x="39370" y="0"/>
                    <a:pt x="87884" y="0"/>
                  </a:cubicBezTo>
                  <a:lnTo>
                    <a:pt x="663194" y="0"/>
                  </a:lnTo>
                  <a:cubicBezTo>
                    <a:pt x="711708" y="0"/>
                    <a:pt x="751078" y="39370"/>
                    <a:pt x="751078" y="87884"/>
                  </a:cubicBezTo>
                  <a:lnTo>
                    <a:pt x="751078" y="644906"/>
                  </a:lnTo>
                  <a:cubicBezTo>
                    <a:pt x="751078" y="693420"/>
                    <a:pt x="711708" y="732790"/>
                    <a:pt x="663194" y="732790"/>
                  </a:cubicBezTo>
                  <a:lnTo>
                    <a:pt x="87884" y="732790"/>
                  </a:lnTo>
                  <a:cubicBezTo>
                    <a:pt x="39370" y="732917"/>
                    <a:pt x="0" y="693420"/>
                    <a:pt x="0" y="644906"/>
                  </a:cubicBezTo>
                  <a:close/>
                </a:path>
              </a:pathLst>
            </a:custGeom>
            <a:solidFill>
              <a:srgbClr val="39D3BE"/>
            </a:solidFill>
            <a:ln w="14299" cap="sq">
              <a:solidFill>
                <a:srgbClr val="39D3BE"/>
              </a:solidFill>
              <a:prstDash val="solid"/>
              <a:miter/>
            </a:ln>
          </p:spPr>
        </p:sp>
      </p:grpSp>
      <p:grpSp>
        <p:nvGrpSpPr>
          <p:cNvPr id="86" name="Group 86"/>
          <p:cNvGrpSpPr/>
          <p:nvPr/>
        </p:nvGrpSpPr>
        <p:grpSpPr>
          <a:xfrm>
            <a:off x="7137892" y="6890814"/>
            <a:ext cx="549069" cy="535343"/>
            <a:chOff x="0" y="0"/>
            <a:chExt cx="732092" cy="713791"/>
          </a:xfrm>
        </p:grpSpPr>
        <p:sp>
          <p:nvSpPr>
            <p:cNvPr id="87" name="Freeform 87"/>
            <p:cNvSpPr/>
            <p:nvPr/>
          </p:nvSpPr>
          <p:spPr>
            <a:xfrm>
              <a:off x="0" y="0"/>
              <a:ext cx="732092" cy="713790"/>
            </a:xfrm>
            <a:custGeom>
              <a:avLst/>
              <a:gdLst/>
              <a:ahLst/>
              <a:cxnLst/>
              <a:rect l="l" t="t" r="r" b="b"/>
              <a:pathLst>
                <a:path w="732092" h="713790">
                  <a:moveTo>
                    <a:pt x="0" y="0"/>
                  </a:moveTo>
                  <a:lnTo>
                    <a:pt x="732092" y="0"/>
                  </a:lnTo>
                  <a:lnTo>
                    <a:pt x="732092" y="713790"/>
                  </a:lnTo>
                  <a:lnTo>
                    <a:pt x="0" y="7137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5096" r="-75096"/>
              </a:stretch>
            </a:blipFill>
          </p:spPr>
        </p:sp>
        <p:sp>
          <p:nvSpPr>
            <p:cNvPr id="88" name="TextBox 88"/>
            <p:cNvSpPr txBox="1"/>
            <p:nvPr/>
          </p:nvSpPr>
          <p:spPr>
            <a:xfrm>
              <a:off x="0" y="-9525"/>
              <a:ext cx="732092" cy="723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1"/>
                </a:lnSpc>
              </a:pPr>
              <a:r>
                <a:rPr lang="en-US" sz="1351" b="1">
                  <a:solidFill>
                    <a:srgbClr val="070E1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04</a:t>
              </a:r>
            </a:p>
          </p:txBody>
        </p:sp>
      </p:grpSp>
      <p:grpSp>
        <p:nvGrpSpPr>
          <p:cNvPr id="89" name="Group 89"/>
          <p:cNvGrpSpPr/>
          <p:nvPr/>
        </p:nvGrpSpPr>
        <p:grpSpPr>
          <a:xfrm>
            <a:off x="7988951" y="6808451"/>
            <a:ext cx="8167402" cy="686333"/>
            <a:chOff x="0" y="0"/>
            <a:chExt cx="10889869" cy="915111"/>
          </a:xfrm>
        </p:grpSpPr>
        <p:sp>
          <p:nvSpPr>
            <p:cNvPr id="90" name="Freeform 90"/>
            <p:cNvSpPr/>
            <p:nvPr/>
          </p:nvSpPr>
          <p:spPr>
            <a:xfrm>
              <a:off x="0" y="0"/>
              <a:ext cx="10889868" cy="915115"/>
            </a:xfrm>
            <a:custGeom>
              <a:avLst/>
              <a:gdLst/>
              <a:ahLst/>
              <a:cxnLst/>
              <a:rect l="l" t="t" r="r" b="b"/>
              <a:pathLst>
                <a:path w="10889868" h="915115">
                  <a:moveTo>
                    <a:pt x="0" y="0"/>
                  </a:moveTo>
                  <a:lnTo>
                    <a:pt x="10889868" y="0"/>
                  </a:lnTo>
                  <a:lnTo>
                    <a:pt x="10889868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1872" b="-181871"/>
              </a:stretch>
            </a:blipFill>
          </p:spPr>
        </p:sp>
        <p:sp>
          <p:nvSpPr>
            <p:cNvPr id="91" name="TextBox 91"/>
            <p:cNvSpPr txBox="1"/>
            <p:nvPr/>
          </p:nvSpPr>
          <p:spPr>
            <a:xfrm>
              <a:off x="0" y="0"/>
              <a:ext cx="10889869" cy="9151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F2F6FC"/>
                  </a:solidFill>
                  <a:latin typeface="Aptos"/>
                  <a:ea typeface="Aptos"/>
                  <a:cs typeface="Aptos"/>
                  <a:sym typeface="Aptos"/>
                </a:rPr>
                <a:t>Verify Module 3 quality documentation</a:t>
              </a:r>
            </a:p>
          </p:txBody>
        </p:sp>
      </p:grpSp>
      <p:grpSp>
        <p:nvGrpSpPr>
          <p:cNvPr id="92" name="Group 92"/>
          <p:cNvGrpSpPr/>
          <p:nvPr/>
        </p:nvGrpSpPr>
        <p:grpSpPr>
          <a:xfrm>
            <a:off x="15785735" y="6835912"/>
            <a:ext cx="1304039" cy="603980"/>
            <a:chOff x="0" y="0"/>
            <a:chExt cx="1738719" cy="805307"/>
          </a:xfrm>
        </p:grpSpPr>
        <p:sp>
          <p:nvSpPr>
            <p:cNvPr id="93" name="Freeform 93"/>
            <p:cNvSpPr/>
            <p:nvPr/>
          </p:nvSpPr>
          <p:spPr>
            <a:xfrm>
              <a:off x="0" y="0"/>
              <a:ext cx="1738718" cy="805301"/>
            </a:xfrm>
            <a:custGeom>
              <a:avLst/>
              <a:gdLst/>
              <a:ahLst/>
              <a:cxnLst/>
              <a:rect l="l" t="t" r="r" b="b"/>
              <a:pathLst>
                <a:path w="1738718" h="805301">
                  <a:moveTo>
                    <a:pt x="0" y="0"/>
                  </a:moveTo>
                  <a:lnTo>
                    <a:pt x="1738718" y="0"/>
                  </a:lnTo>
                  <a:lnTo>
                    <a:pt x="1738718" y="805301"/>
                  </a:lnTo>
                  <a:lnTo>
                    <a:pt x="0" y="8053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425" r="-9425"/>
              </a:stretch>
            </a:blipFill>
          </p:spPr>
        </p:sp>
        <p:sp>
          <p:nvSpPr>
            <p:cNvPr id="94" name="TextBox 94"/>
            <p:cNvSpPr txBox="1"/>
            <p:nvPr/>
          </p:nvSpPr>
          <p:spPr>
            <a:xfrm>
              <a:off x="0" y="0"/>
              <a:ext cx="1738719" cy="8053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1"/>
                </a:lnSpc>
              </a:pPr>
              <a:r>
                <a:rPr lang="en-US" sz="1200" b="1">
                  <a:solidFill>
                    <a:srgbClr val="39D3B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ACTION  →</a:t>
              </a:r>
            </a:p>
          </p:txBody>
        </p:sp>
      </p:grpSp>
      <p:grpSp>
        <p:nvGrpSpPr>
          <p:cNvPr id="95" name="Group 95"/>
          <p:cNvGrpSpPr/>
          <p:nvPr/>
        </p:nvGrpSpPr>
        <p:grpSpPr>
          <a:xfrm>
            <a:off x="6924846" y="7707268"/>
            <a:ext cx="10515238" cy="796719"/>
            <a:chOff x="0" y="0"/>
            <a:chExt cx="14020317" cy="1062292"/>
          </a:xfrm>
        </p:grpSpPr>
        <p:sp>
          <p:nvSpPr>
            <p:cNvPr id="96" name="Freeform 96"/>
            <p:cNvSpPr/>
            <p:nvPr/>
          </p:nvSpPr>
          <p:spPr>
            <a:xfrm>
              <a:off x="0" y="0"/>
              <a:ext cx="14020420" cy="1062355"/>
            </a:xfrm>
            <a:custGeom>
              <a:avLst/>
              <a:gdLst/>
              <a:ahLst/>
              <a:cxnLst/>
              <a:rect l="l" t="t" r="r" b="b"/>
              <a:pathLst>
                <a:path w="14020420" h="1062355">
                  <a:moveTo>
                    <a:pt x="0" y="127508"/>
                  </a:moveTo>
                  <a:cubicBezTo>
                    <a:pt x="0" y="57023"/>
                    <a:pt x="57023" y="0"/>
                    <a:pt x="127508" y="0"/>
                  </a:cubicBezTo>
                  <a:lnTo>
                    <a:pt x="13892912" y="0"/>
                  </a:lnTo>
                  <a:cubicBezTo>
                    <a:pt x="13963270" y="0"/>
                    <a:pt x="14020420" y="57023"/>
                    <a:pt x="14020420" y="127508"/>
                  </a:cubicBezTo>
                  <a:lnTo>
                    <a:pt x="14020420" y="934847"/>
                  </a:lnTo>
                  <a:cubicBezTo>
                    <a:pt x="14020420" y="1005205"/>
                    <a:pt x="13963397" y="1062355"/>
                    <a:pt x="13892912" y="1062355"/>
                  </a:cubicBezTo>
                  <a:lnTo>
                    <a:pt x="127508" y="1062355"/>
                  </a:lnTo>
                  <a:cubicBezTo>
                    <a:pt x="57023" y="1062355"/>
                    <a:pt x="0" y="1005205"/>
                    <a:pt x="0" y="934847"/>
                  </a:cubicBezTo>
                  <a:close/>
                </a:path>
              </a:pathLst>
            </a:custGeom>
            <a:solidFill>
              <a:srgbClr val="101B2F"/>
            </a:solidFill>
            <a:ln w="14299" cap="sq">
              <a:solidFill>
                <a:srgbClr val="101B2F"/>
              </a:solidFill>
              <a:prstDash val="solid"/>
              <a:miter/>
            </a:ln>
          </p:spPr>
        </p:sp>
      </p:grpSp>
      <p:grpSp>
        <p:nvGrpSpPr>
          <p:cNvPr id="97" name="Group 97"/>
          <p:cNvGrpSpPr/>
          <p:nvPr/>
        </p:nvGrpSpPr>
        <p:grpSpPr>
          <a:xfrm>
            <a:off x="7130748" y="7830807"/>
            <a:ext cx="563366" cy="549640"/>
            <a:chOff x="0" y="0"/>
            <a:chExt cx="751154" cy="732854"/>
          </a:xfrm>
        </p:grpSpPr>
        <p:sp>
          <p:nvSpPr>
            <p:cNvPr id="98" name="Freeform 98"/>
            <p:cNvSpPr/>
            <p:nvPr/>
          </p:nvSpPr>
          <p:spPr>
            <a:xfrm>
              <a:off x="0" y="0"/>
              <a:ext cx="751078" cy="732790"/>
            </a:xfrm>
            <a:custGeom>
              <a:avLst/>
              <a:gdLst/>
              <a:ahLst/>
              <a:cxnLst/>
              <a:rect l="l" t="t" r="r" b="b"/>
              <a:pathLst>
                <a:path w="751078" h="732790">
                  <a:moveTo>
                    <a:pt x="0" y="87884"/>
                  </a:moveTo>
                  <a:cubicBezTo>
                    <a:pt x="0" y="39370"/>
                    <a:pt x="39370" y="0"/>
                    <a:pt x="87884" y="0"/>
                  </a:cubicBezTo>
                  <a:lnTo>
                    <a:pt x="663194" y="0"/>
                  </a:lnTo>
                  <a:cubicBezTo>
                    <a:pt x="711708" y="0"/>
                    <a:pt x="751078" y="39370"/>
                    <a:pt x="751078" y="87884"/>
                  </a:cubicBezTo>
                  <a:lnTo>
                    <a:pt x="751078" y="644906"/>
                  </a:lnTo>
                  <a:cubicBezTo>
                    <a:pt x="751078" y="693420"/>
                    <a:pt x="711708" y="732790"/>
                    <a:pt x="663194" y="732790"/>
                  </a:cubicBezTo>
                  <a:lnTo>
                    <a:pt x="87884" y="732790"/>
                  </a:lnTo>
                  <a:cubicBezTo>
                    <a:pt x="39370" y="732917"/>
                    <a:pt x="0" y="693420"/>
                    <a:pt x="0" y="644906"/>
                  </a:cubicBezTo>
                  <a:close/>
                </a:path>
              </a:pathLst>
            </a:custGeom>
            <a:solidFill>
              <a:srgbClr val="4CD38B"/>
            </a:solidFill>
            <a:ln w="14299" cap="sq">
              <a:solidFill>
                <a:srgbClr val="4CD38B"/>
              </a:solidFill>
              <a:prstDash val="solid"/>
              <a:miter/>
            </a:ln>
          </p:spPr>
        </p:sp>
      </p:grpSp>
      <p:grpSp>
        <p:nvGrpSpPr>
          <p:cNvPr id="99" name="Group 99"/>
          <p:cNvGrpSpPr/>
          <p:nvPr/>
        </p:nvGrpSpPr>
        <p:grpSpPr>
          <a:xfrm>
            <a:off x="7137892" y="7824235"/>
            <a:ext cx="549069" cy="535343"/>
            <a:chOff x="0" y="0"/>
            <a:chExt cx="732092" cy="713791"/>
          </a:xfrm>
        </p:grpSpPr>
        <p:sp>
          <p:nvSpPr>
            <p:cNvPr id="100" name="Freeform 100"/>
            <p:cNvSpPr/>
            <p:nvPr/>
          </p:nvSpPr>
          <p:spPr>
            <a:xfrm>
              <a:off x="0" y="0"/>
              <a:ext cx="732092" cy="713790"/>
            </a:xfrm>
            <a:custGeom>
              <a:avLst/>
              <a:gdLst/>
              <a:ahLst/>
              <a:cxnLst/>
              <a:rect l="l" t="t" r="r" b="b"/>
              <a:pathLst>
                <a:path w="732092" h="713790">
                  <a:moveTo>
                    <a:pt x="0" y="0"/>
                  </a:moveTo>
                  <a:lnTo>
                    <a:pt x="732092" y="0"/>
                  </a:lnTo>
                  <a:lnTo>
                    <a:pt x="732092" y="713790"/>
                  </a:lnTo>
                  <a:lnTo>
                    <a:pt x="0" y="71379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5096" r="-75096"/>
              </a:stretch>
            </a:blipFill>
          </p:spPr>
        </p:sp>
        <p:sp>
          <p:nvSpPr>
            <p:cNvPr id="101" name="TextBox 101"/>
            <p:cNvSpPr txBox="1"/>
            <p:nvPr/>
          </p:nvSpPr>
          <p:spPr>
            <a:xfrm>
              <a:off x="0" y="-9525"/>
              <a:ext cx="732092" cy="72331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621"/>
                </a:lnSpc>
              </a:pPr>
              <a:r>
                <a:rPr lang="en-US" sz="1351" b="1">
                  <a:solidFill>
                    <a:srgbClr val="070E1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05</a:t>
              </a:r>
            </a:p>
          </p:txBody>
        </p:sp>
      </p:grpSp>
      <p:grpSp>
        <p:nvGrpSpPr>
          <p:cNvPr id="102" name="Group 102"/>
          <p:cNvGrpSpPr/>
          <p:nvPr/>
        </p:nvGrpSpPr>
        <p:grpSpPr>
          <a:xfrm>
            <a:off x="7988951" y="7741872"/>
            <a:ext cx="8167402" cy="686333"/>
            <a:chOff x="0" y="0"/>
            <a:chExt cx="10889869" cy="915111"/>
          </a:xfrm>
        </p:grpSpPr>
        <p:sp>
          <p:nvSpPr>
            <p:cNvPr id="103" name="Freeform 103"/>
            <p:cNvSpPr/>
            <p:nvPr/>
          </p:nvSpPr>
          <p:spPr>
            <a:xfrm>
              <a:off x="0" y="0"/>
              <a:ext cx="10889868" cy="915115"/>
            </a:xfrm>
            <a:custGeom>
              <a:avLst/>
              <a:gdLst/>
              <a:ahLst/>
              <a:cxnLst/>
              <a:rect l="l" t="t" r="r" b="b"/>
              <a:pathLst>
                <a:path w="10889868" h="915115">
                  <a:moveTo>
                    <a:pt x="0" y="0"/>
                  </a:moveTo>
                  <a:lnTo>
                    <a:pt x="10889868" y="0"/>
                  </a:lnTo>
                  <a:lnTo>
                    <a:pt x="10889868" y="915115"/>
                  </a:lnTo>
                  <a:lnTo>
                    <a:pt x="0" y="91511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81872" b="-181871"/>
              </a:stretch>
            </a:blipFill>
          </p:spPr>
        </p:sp>
        <p:sp>
          <p:nvSpPr>
            <p:cNvPr id="104" name="TextBox 104"/>
            <p:cNvSpPr txBox="1"/>
            <p:nvPr/>
          </p:nvSpPr>
          <p:spPr>
            <a:xfrm>
              <a:off x="0" y="0"/>
              <a:ext cx="10889869" cy="91511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F2F6FC"/>
                  </a:solidFill>
                  <a:latin typeface="Aptos"/>
                  <a:ea typeface="Aptos"/>
                  <a:cs typeface="Aptos"/>
                  <a:sym typeface="Aptos"/>
                </a:rPr>
                <a:t>Confirm Module 5 clinical evidence</a:t>
              </a:r>
            </a:p>
          </p:txBody>
        </p:sp>
      </p:grpSp>
      <p:grpSp>
        <p:nvGrpSpPr>
          <p:cNvPr id="105" name="Group 105"/>
          <p:cNvGrpSpPr/>
          <p:nvPr/>
        </p:nvGrpSpPr>
        <p:grpSpPr>
          <a:xfrm>
            <a:off x="15785735" y="7769323"/>
            <a:ext cx="1304039" cy="603980"/>
            <a:chOff x="0" y="0"/>
            <a:chExt cx="1738719" cy="805307"/>
          </a:xfrm>
        </p:grpSpPr>
        <p:sp>
          <p:nvSpPr>
            <p:cNvPr id="106" name="Freeform 106"/>
            <p:cNvSpPr/>
            <p:nvPr/>
          </p:nvSpPr>
          <p:spPr>
            <a:xfrm>
              <a:off x="0" y="0"/>
              <a:ext cx="1738718" cy="805301"/>
            </a:xfrm>
            <a:custGeom>
              <a:avLst/>
              <a:gdLst/>
              <a:ahLst/>
              <a:cxnLst/>
              <a:rect l="l" t="t" r="r" b="b"/>
              <a:pathLst>
                <a:path w="1738718" h="805301">
                  <a:moveTo>
                    <a:pt x="0" y="0"/>
                  </a:moveTo>
                  <a:lnTo>
                    <a:pt x="1738718" y="0"/>
                  </a:lnTo>
                  <a:lnTo>
                    <a:pt x="1738718" y="805301"/>
                  </a:lnTo>
                  <a:lnTo>
                    <a:pt x="0" y="80530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9425" r="-9425"/>
              </a:stretch>
            </a:blipFill>
          </p:spPr>
        </p:sp>
        <p:sp>
          <p:nvSpPr>
            <p:cNvPr id="107" name="TextBox 107"/>
            <p:cNvSpPr txBox="1"/>
            <p:nvPr/>
          </p:nvSpPr>
          <p:spPr>
            <a:xfrm>
              <a:off x="0" y="0"/>
              <a:ext cx="1738719" cy="80530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r">
                <a:lnSpc>
                  <a:spcPts val="1441"/>
                </a:lnSpc>
              </a:pPr>
              <a:r>
                <a:rPr lang="en-US" sz="1200" b="1">
                  <a:solidFill>
                    <a:srgbClr val="4CD38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ACTION  →</a:t>
              </a:r>
            </a:p>
          </p:txBody>
        </p:sp>
      </p:grpSp>
      <p:grpSp>
        <p:nvGrpSpPr>
          <p:cNvPr id="108" name="Group 108"/>
          <p:cNvGrpSpPr/>
          <p:nvPr/>
        </p:nvGrpSpPr>
        <p:grpSpPr>
          <a:xfrm>
            <a:off x="816454" y="8942670"/>
            <a:ext cx="16623630" cy="865356"/>
            <a:chOff x="0" y="0"/>
            <a:chExt cx="22164840" cy="1153808"/>
          </a:xfrm>
        </p:grpSpPr>
        <p:sp>
          <p:nvSpPr>
            <p:cNvPr id="109" name="Freeform 109"/>
            <p:cNvSpPr/>
            <p:nvPr/>
          </p:nvSpPr>
          <p:spPr>
            <a:xfrm>
              <a:off x="0" y="0"/>
              <a:ext cx="22164802" cy="1153795"/>
            </a:xfrm>
            <a:custGeom>
              <a:avLst/>
              <a:gdLst/>
              <a:ahLst/>
              <a:cxnLst/>
              <a:rect l="l" t="t" r="r" b="b"/>
              <a:pathLst>
                <a:path w="22164802" h="1153795">
                  <a:moveTo>
                    <a:pt x="0" y="138430"/>
                  </a:moveTo>
                  <a:cubicBezTo>
                    <a:pt x="0" y="61976"/>
                    <a:pt x="61976" y="0"/>
                    <a:pt x="138430" y="0"/>
                  </a:cubicBezTo>
                  <a:lnTo>
                    <a:pt x="22026372" y="0"/>
                  </a:lnTo>
                  <a:cubicBezTo>
                    <a:pt x="22102826" y="0"/>
                    <a:pt x="22164802" y="61976"/>
                    <a:pt x="22164802" y="138430"/>
                  </a:cubicBezTo>
                  <a:lnTo>
                    <a:pt x="22164802" y="1015365"/>
                  </a:lnTo>
                  <a:cubicBezTo>
                    <a:pt x="22164802" y="1091819"/>
                    <a:pt x="22102826" y="1153795"/>
                    <a:pt x="22026372" y="1153795"/>
                  </a:cubicBezTo>
                  <a:lnTo>
                    <a:pt x="138430" y="1153795"/>
                  </a:lnTo>
                  <a:cubicBezTo>
                    <a:pt x="61976" y="1153795"/>
                    <a:pt x="0" y="1091819"/>
                    <a:pt x="0" y="1015365"/>
                  </a:cubicBezTo>
                  <a:close/>
                </a:path>
              </a:pathLst>
            </a:custGeom>
            <a:solidFill>
              <a:srgbClr val="16243D"/>
            </a:solidFill>
            <a:ln w="14299" cap="sq">
              <a:solidFill>
                <a:srgbClr val="16243D"/>
              </a:solidFill>
              <a:prstDash val="solid"/>
              <a:miter/>
            </a:ln>
          </p:spPr>
        </p:sp>
      </p:grpSp>
      <p:grpSp>
        <p:nvGrpSpPr>
          <p:cNvPr id="110" name="Group 110"/>
          <p:cNvGrpSpPr/>
          <p:nvPr/>
        </p:nvGrpSpPr>
        <p:grpSpPr>
          <a:xfrm>
            <a:off x="1207951" y="9087088"/>
            <a:ext cx="1715843" cy="301990"/>
            <a:chOff x="0" y="0"/>
            <a:chExt cx="2287791" cy="402654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2287787" cy="402651"/>
            </a:xfrm>
            <a:custGeom>
              <a:avLst/>
              <a:gdLst/>
              <a:ahLst/>
              <a:cxnLst/>
              <a:rect l="l" t="t" r="r" b="b"/>
              <a:pathLst>
                <a:path w="2287787" h="402651">
                  <a:moveTo>
                    <a:pt x="0" y="0"/>
                  </a:moveTo>
                  <a:lnTo>
                    <a:pt x="2287787" y="0"/>
                  </a:lnTo>
                  <a:lnTo>
                    <a:pt x="2287787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0710" b="-60710"/>
              </a:stretch>
            </a:blipFill>
          </p:spPr>
        </p:sp>
        <p:sp>
          <p:nvSpPr>
            <p:cNvPr id="112" name="TextBox 112"/>
            <p:cNvSpPr txBox="1"/>
            <p:nvPr/>
          </p:nvSpPr>
          <p:spPr>
            <a:xfrm>
              <a:off x="0" y="-9525"/>
              <a:ext cx="2287791" cy="412179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1"/>
                </a:lnSpc>
              </a:pPr>
              <a:r>
                <a:rPr lang="en-US" sz="1275" b="1">
                  <a:solidFill>
                    <a:srgbClr val="39D3B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THE PHILOSOPHY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3129696" y="9004735"/>
            <a:ext cx="13658088" cy="439255"/>
            <a:chOff x="0" y="0"/>
            <a:chExt cx="18210784" cy="585673"/>
          </a:xfrm>
        </p:grpSpPr>
        <p:sp>
          <p:nvSpPr>
            <p:cNvPr id="114" name="Freeform 114"/>
            <p:cNvSpPr/>
            <p:nvPr/>
          </p:nvSpPr>
          <p:spPr>
            <a:xfrm>
              <a:off x="0" y="0"/>
              <a:ext cx="18210788" cy="585674"/>
            </a:xfrm>
            <a:custGeom>
              <a:avLst/>
              <a:gdLst/>
              <a:ahLst/>
              <a:cxnLst/>
              <a:rect l="l" t="t" r="r" b="b"/>
              <a:pathLst>
                <a:path w="18210788" h="585674">
                  <a:moveTo>
                    <a:pt x="0" y="0"/>
                  </a:moveTo>
                  <a:lnTo>
                    <a:pt x="18210788" y="0"/>
                  </a:lnTo>
                  <a:lnTo>
                    <a:pt x="18210788" y="585674"/>
                  </a:lnTo>
                  <a:lnTo>
                    <a:pt x="0" y="58567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55862" b="-555862"/>
              </a:stretch>
            </a:blipFill>
          </p:spPr>
        </p:sp>
        <p:sp>
          <p:nvSpPr>
            <p:cNvPr id="115" name="TextBox 115"/>
            <p:cNvSpPr txBox="1"/>
            <p:nvPr/>
          </p:nvSpPr>
          <p:spPr>
            <a:xfrm>
              <a:off x="0" y="0"/>
              <a:ext cx="18210784" cy="585673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1"/>
                </a:lnSpc>
              </a:pPr>
              <a:r>
                <a:rPr lang="en-US" sz="1951" b="1">
                  <a:solidFill>
                    <a:srgbClr val="F2F6F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AI should reduce cognitive workload — not replace regulatory experts.</a:t>
              </a: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F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54971" y="480431"/>
            <a:ext cx="2745343" cy="480431"/>
            <a:chOff x="0" y="0"/>
            <a:chExt cx="3660458" cy="64057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660460" cy="640580"/>
            </a:xfrm>
            <a:custGeom>
              <a:avLst/>
              <a:gdLst/>
              <a:ahLst/>
              <a:cxnLst/>
              <a:rect l="l" t="t" r="r" b="b"/>
              <a:pathLst>
                <a:path w="3660460" h="640580">
                  <a:moveTo>
                    <a:pt x="0" y="0"/>
                  </a:moveTo>
                  <a:lnTo>
                    <a:pt x="3660460" y="0"/>
                  </a:lnTo>
                  <a:lnTo>
                    <a:pt x="3660460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61343" b="-61342"/>
              </a:stretch>
            </a:blipFill>
          </p:spPr>
        </p:sp>
        <p:sp>
          <p:nvSpPr>
            <p:cNvPr id="4" name="TextBox 4"/>
            <p:cNvSpPr txBox="1"/>
            <p:nvPr/>
          </p:nvSpPr>
          <p:spPr>
            <a:xfrm>
              <a:off x="0" y="0"/>
              <a:ext cx="3660458" cy="640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1"/>
                </a:lnSpc>
              </a:pPr>
              <a:r>
                <a:rPr lang="en-US" sz="1951" b="1">
                  <a:solidFill>
                    <a:srgbClr val="39D3B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LIVE DEMO</a:t>
              </a:r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754971" y="1029500"/>
            <a:ext cx="12079519" cy="754971"/>
            <a:chOff x="0" y="0"/>
            <a:chExt cx="16106026" cy="1006627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106023" cy="1006626"/>
            </a:xfrm>
            <a:custGeom>
              <a:avLst/>
              <a:gdLst/>
              <a:ahLst/>
              <a:cxnLst/>
              <a:rect l="l" t="t" r="r" b="b"/>
              <a:pathLst>
                <a:path w="16106023" h="1006626">
                  <a:moveTo>
                    <a:pt x="0" y="0"/>
                  </a:moveTo>
                  <a:lnTo>
                    <a:pt x="16106023" y="0"/>
                  </a:lnTo>
                  <a:lnTo>
                    <a:pt x="16106023" y="1006626"/>
                  </a:lnTo>
                  <a:lnTo>
                    <a:pt x="0" y="100662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61760" b="-261760"/>
              </a:stretch>
            </a:blipFill>
          </p:spPr>
        </p:sp>
        <p:sp>
          <p:nvSpPr>
            <p:cNvPr id="7" name="TextBox 7"/>
            <p:cNvSpPr txBox="1"/>
            <p:nvPr/>
          </p:nvSpPr>
          <p:spPr>
            <a:xfrm>
              <a:off x="0" y="0"/>
              <a:ext cx="16106026" cy="100662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5043"/>
                </a:lnSpc>
              </a:pPr>
              <a:r>
                <a:rPr lang="en-US" sz="4203" b="1">
                  <a:solidFill>
                    <a:srgbClr val="F2F6F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From signal detection to submission readiness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796147" y="1757020"/>
            <a:ext cx="8922372" cy="480431"/>
            <a:chOff x="0" y="0"/>
            <a:chExt cx="11896496" cy="640575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1896494" cy="640580"/>
            </a:xfrm>
            <a:custGeom>
              <a:avLst/>
              <a:gdLst/>
              <a:ahLst/>
              <a:cxnLst/>
              <a:rect l="l" t="t" r="r" b="b"/>
              <a:pathLst>
                <a:path w="11896494" h="640580">
                  <a:moveTo>
                    <a:pt x="0" y="0"/>
                  </a:moveTo>
                  <a:lnTo>
                    <a:pt x="11896494" y="0"/>
                  </a:lnTo>
                  <a:lnTo>
                    <a:pt x="11896494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1865" b="-311864"/>
              </a:stretch>
            </a:blipFill>
          </p:spPr>
        </p:sp>
        <p:sp>
          <p:nvSpPr>
            <p:cNvPr id="10" name="TextBox 10"/>
            <p:cNvSpPr txBox="1"/>
            <p:nvPr/>
          </p:nvSpPr>
          <p:spPr>
            <a:xfrm>
              <a:off x="0" y="0"/>
              <a:ext cx="11896496" cy="64057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1"/>
                </a:lnSpc>
              </a:pPr>
              <a:r>
                <a:rPr lang="en-US" sz="1951">
                  <a:solidFill>
                    <a:srgbClr val="9FAEC6"/>
                  </a:solidFill>
                  <a:latin typeface="Aptos"/>
                  <a:ea typeface="Aptos"/>
                  <a:cs typeface="Aptos"/>
                  <a:sym typeface="Aptos"/>
                </a:rPr>
                <a:t>A 90-second journey through PharmaGuard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47817" y="2669562"/>
            <a:ext cx="3102807" cy="1318336"/>
            <a:chOff x="0" y="0"/>
            <a:chExt cx="4137076" cy="1757782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4137152" cy="1757807"/>
            </a:xfrm>
            <a:custGeom>
              <a:avLst/>
              <a:gdLst/>
              <a:ahLst/>
              <a:cxnLst/>
              <a:rect l="l" t="t" r="r" b="b"/>
              <a:pathLst>
                <a:path w="4137152" h="1757807">
                  <a:moveTo>
                    <a:pt x="0" y="210947"/>
                  </a:moveTo>
                  <a:cubicBezTo>
                    <a:pt x="0" y="94488"/>
                    <a:pt x="94488" y="0"/>
                    <a:pt x="210947" y="0"/>
                  </a:cubicBezTo>
                  <a:lnTo>
                    <a:pt x="3926205" y="0"/>
                  </a:lnTo>
                  <a:cubicBezTo>
                    <a:pt x="4042664" y="0"/>
                    <a:pt x="4137152" y="94488"/>
                    <a:pt x="4137152" y="210947"/>
                  </a:cubicBezTo>
                  <a:lnTo>
                    <a:pt x="4137152" y="1546860"/>
                  </a:lnTo>
                  <a:cubicBezTo>
                    <a:pt x="4137152" y="1663319"/>
                    <a:pt x="4042664" y="1757807"/>
                    <a:pt x="3926205" y="1757807"/>
                  </a:cubicBezTo>
                  <a:lnTo>
                    <a:pt x="210947" y="1757807"/>
                  </a:lnTo>
                  <a:cubicBezTo>
                    <a:pt x="94488" y="1757807"/>
                    <a:pt x="0" y="1663319"/>
                    <a:pt x="0" y="1546860"/>
                  </a:cubicBezTo>
                  <a:close/>
                </a:path>
              </a:pathLst>
            </a:custGeom>
            <a:solidFill>
              <a:srgbClr val="111B30"/>
            </a:solidFill>
            <a:ln w="14299" cap="sq">
              <a:solidFill>
                <a:srgbClr val="111B30"/>
              </a:solidFill>
              <a:prstDash val="solid"/>
              <a:miter/>
            </a:ln>
          </p:spPr>
        </p:sp>
      </p:grpSp>
      <p:grpSp>
        <p:nvGrpSpPr>
          <p:cNvPr id="13" name="Group 13"/>
          <p:cNvGrpSpPr/>
          <p:nvPr/>
        </p:nvGrpSpPr>
        <p:grpSpPr>
          <a:xfrm>
            <a:off x="912543" y="2875464"/>
            <a:ext cx="604552" cy="604552"/>
            <a:chOff x="0" y="0"/>
            <a:chExt cx="806069" cy="806069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806069" cy="806069"/>
            </a:xfrm>
            <a:custGeom>
              <a:avLst/>
              <a:gdLst/>
              <a:ahLst/>
              <a:cxnLst/>
              <a:rect l="l" t="t" r="r" b="b"/>
              <a:pathLst>
                <a:path w="806069" h="806069">
                  <a:moveTo>
                    <a:pt x="0" y="96774"/>
                  </a:moveTo>
                  <a:cubicBezTo>
                    <a:pt x="0" y="43307"/>
                    <a:pt x="43307" y="0"/>
                    <a:pt x="96774" y="0"/>
                  </a:cubicBezTo>
                  <a:lnTo>
                    <a:pt x="709295" y="0"/>
                  </a:lnTo>
                  <a:cubicBezTo>
                    <a:pt x="762762" y="0"/>
                    <a:pt x="806069" y="43307"/>
                    <a:pt x="806069" y="96774"/>
                  </a:cubicBezTo>
                  <a:lnTo>
                    <a:pt x="806069" y="709295"/>
                  </a:lnTo>
                  <a:cubicBezTo>
                    <a:pt x="806069" y="762762"/>
                    <a:pt x="762762" y="806069"/>
                    <a:pt x="709295" y="806069"/>
                  </a:cubicBezTo>
                  <a:lnTo>
                    <a:pt x="96774" y="806069"/>
                  </a:lnTo>
                  <a:cubicBezTo>
                    <a:pt x="43307" y="806069"/>
                    <a:pt x="0" y="762762"/>
                    <a:pt x="0" y="709295"/>
                  </a:cubicBezTo>
                  <a:close/>
                </a:path>
              </a:pathLst>
            </a:custGeom>
            <a:solidFill>
              <a:srgbClr val="4889FF"/>
            </a:solidFill>
            <a:ln w="14299" cap="sq">
              <a:solidFill>
                <a:srgbClr val="4889FF"/>
              </a:solidFill>
              <a:prstDash val="solid"/>
              <a:miter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919686" y="2875750"/>
            <a:ext cx="590245" cy="590245"/>
            <a:chOff x="0" y="0"/>
            <a:chExt cx="786994" cy="786994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86999" cy="786999"/>
            </a:xfrm>
            <a:custGeom>
              <a:avLst/>
              <a:gdLst/>
              <a:ahLst/>
              <a:cxnLst/>
              <a:rect l="l" t="t" r="r" b="b"/>
              <a:pathLst>
                <a:path w="786999" h="786999">
                  <a:moveTo>
                    <a:pt x="0" y="0"/>
                  </a:moveTo>
                  <a:lnTo>
                    <a:pt x="786999" y="0"/>
                  </a:lnTo>
                  <a:lnTo>
                    <a:pt x="786999" y="786999"/>
                  </a:lnTo>
                  <a:lnTo>
                    <a:pt x="0" y="7869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2"/>
              </a:stretch>
            </a:blipFill>
          </p:spPr>
        </p:sp>
        <p:sp>
          <p:nvSpPr>
            <p:cNvPr id="17" name="TextBox 17"/>
            <p:cNvSpPr txBox="1"/>
            <p:nvPr/>
          </p:nvSpPr>
          <p:spPr>
            <a:xfrm>
              <a:off x="0" y="0"/>
              <a:ext cx="786994" cy="7869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1"/>
                </a:lnSpc>
              </a:pPr>
              <a:r>
                <a:rPr lang="en-US" sz="1501" b="1">
                  <a:solidFill>
                    <a:srgbClr val="080F1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01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660931" y="2786520"/>
            <a:ext cx="1853108" cy="384353"/>
            <a:chOff x="0" y="0"/>
            <a:chExt cx="2470810" cy="51247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2470810" cy="512464"/>
            </a:xfrm>
            <a:custGeom>
              <a:avLst/>
              <a:gdLst/>
              <a:ahLst/>
              <a:cxnLst/>
              <a:rect l="l" t="t" r="r" b="b"/>
              <a:pathLst>
                <a:path w="2470810" h="512464">
                  <a:moveTo>
                    <a:pt x="0" y="0"/>
                  </a:moveTo>
                  <a:lnTo>
                    <a:pt x="2470810" y="0"/>
                  </a:lnTo>
                  <a:lnTo>
                    <a:pt x="2470810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3945" b="-43946"/>
              </a:stretch>
            </a:blipFill>
          </p:spPr>
        </p:sp>
        <p:sp>
          <p:nvSpPr>
            <p:cNvPr id="20" name="TextBox 20"/>
            <p:cNvSpPr txBox="1"/>
            <p:nvPr/>
          </p:nvSpPr>
          <p:spPr>
            <a:xfrm>
              <a:off x="0" y="0"/>
              <a:ext cx="2470810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r>
                <a:rPr lang="en-US" sz="1801" b="1">
                  <a:solidFill>
                    <a:srgbClr val="F2F6F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Executive</a:t>
              </a:r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1660931" y="3170872"/>
            <a:ext cx="1853108" cy="384353"/>
            <a:chOff x="0" y="0"/>
            <a:chExt cx="2470810" cy="51247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2470810" cy="512464"/>
            </a:xfrm>
            <a:custGeom>
              <a:avLst/>
              <a:gdLst/>
              <a:ahLst/>
              <a:cxnLst/>
              <a:rect l="l" t="t" r="r" b="b"/>
              <a:pathLst>
                <a:path w="2470810" h="512464">
                  <a:moveTo>
                    <a:pt x="0" y="0"/>
                  </a:moveTo>
                  <a:lnTo>
                    <a:pt x="2470810" y="0"/>
                  </a:lnTo>
                  <a:lnTo>
                    <a:pt x="2470810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3945" b="-43946"/>
              </a:stretch>
            </a:blipFill>
          </p:spPr>
        </p:sp>
        <p:sp>
          <p:nvSpPr>
            <p:cNvPr id="23" name="TextBox 23"/>
            <p:cNvSpPr txBox="1"/>
            <p:nvPr/>
          </p:nvSpPr>
          <p:spPr>
            <a:xfrm>
              <a:off x="0" y="0"/>
              <a:ext cx="2470810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9FAEC6"/>
                  </a:solidFill>
                  <a:latin typeface="Aptos"/>
                  <a:ea typeface="Aptos"/>
                  <a:cs typeface="Aptos"/>
                  <a:sym typeface="Aptos"/>
                </a:rPr>
                <a:t>Dashboard</a:t>
              </a:r>
            </a:p>
          </p:txBody>
        </p:sp>
      </p:grpSp>
      <p:sp>
        <p:nvSpPr>
          <p:cNvPr id="24" name="AutoShape 24"/>
          <p:cNvSpPr/>
          <p:nvPr/>
        </p:nvSpPr>
        <p:spPr>
          <a:xfrm rot="296640">
            <a:off x="3828564" y="3312338"/>
            <a:ext cx="331822" cy="0"/>
          </a:xfrm>
          <a:prstGeom prst="line">
            <a:avLst/>
          </a:prstGeom>
          <a:ln w="19050" cap="rnd">
            <a:solidFill>
              <a:srgbClr val="9FAEC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5" name="Group 25"/>
          <p:cNvGrpSpPr/>
          <p:nvPr/>
        </p:nvGrpSpPr>
        <p:grpSpPr>
          <a:xfrm>
            <a:off x="4152052" y="2669562"/>
            <a:ext cx="3102807" cy="1318336"/>
            <a:chOff x="0" y="0"/>
            <a:chExt cx="4137076" cy="1757782"/>
          </a:xfrm>
        </p:grpSpPr>
        <p:sp>
          <p:nvSpPr>
            <p:cNvPr id="26" name="Freeform 26"/>
            <p:cNvSpPr/>
            <p:nvPr/>
          </p:nvSpPr>
          <p:spPr>
            <a:xfrm>
              <a:off x="0" y="0"/>
              <a:ext cx="4137152" cy="1757807"/>
            </a:xfrm>
            <a:custGeom>
              <a:avLst/>
              <a:gdLst/>
              <a:ahLst/>
              <a:cxnLst/>
              <a:rect l="l" t="t" r="r" b="b"/>
              <a:pathLst>
                <a:path w="4137152" h="1757807">
                  <a:moveTo>
                    <a:pt x="0" y="210947"/>
                  </a:moveTo>
                  <a:cubicBezTo>
                    <a:pt x="0" y="94488"/>
                    <a:pt x="94488" y="0"/>
                    <a:pt x="210947" y="0"/>
                  </a:cubicBezTo>
                  <a:lnTo>
                    <a:pt x="3926205" y="0"/>
                  </a:lnTo>
                  <a:cubicBezTo>
                    <a:pt x="4042664" y="0"/>
                    <a:pt x="4137152" y="94488"/>
                    <a:pt x="4137152" y="210947"/>
                  </a:cubicBezTo>
                  <a:lnTo>
                    <a:pt x="4137152" y="1546860"/>
                  </a:lnTo>
                  <a:cubicBezTo>
                    <a:pt x="4137152" y="1663319"/>
                    <a:pt x="4042664" y="1757807"/>
                    <a:pt x="3926205" y="1757807"/>
                  </a:cubicBezTo>
                  <a:lnTo>
                    <a:pt x="210947" y="1757807"/>
                  </a:lnTo>
                  <a:cubicBezTo>
                    <a:pt x="94488" y="1757807"/>
                    <a:pt x="0" y="1663319"/>
                    <a:pt x="0" y="1546860"/>
                  </a:cubicBezTo>
                  <a:close/>
                </a:path>
              </a:pathLst>
            </a:custGeom>
            <a:solidFill>
              <a:srgbClr val="111B30"/>
            </a:solidFill>
            <a:ln w="14299" cap="sq">
              <a:solidFill>
                <a:srgbClr val="111B30"/>
              </a:solidFill>
              <a:prstDash val="solid"/>
              <a:miter/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4316768" y="2875464"/>
            <a:ext cx="604552" cy="604552"/>
            <a:chOff x="0" y="0"/>
            <a:chExt cx="806069" cy="806069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806069" cy="806069"/>
            </a:xfrm>
            <a:custGeom>
              <a:avLst/>
              <a:gdLst/>
              <a:ahLst/>
              <a:cxnLst/>
              <a:rect l="l" t="t" r="r" b="b"/>
              <a:pathLst>
                <a:path w="806069" h="806069">
                  <a:moveTo>
                    <a:pt x="0" y="96774"/>
                  </a:moveTo>
                  <a:cubicBezTo>
                    <a:pt x="0" y="43307"/>
                    <a:pt x="43307" y="0"/>
                    <a:pt x="96774" y="0"/>
                  </a:cubicBezTo>
                  <a:lnTo>
                    <a:pt x="709295" y="0"/>
                  </a:lnTo>
                  <a:cubicBezTo>
                    <a:pt x="762762" y="0"/>
                    <a:pt x="806069" y="43307"/>
                    <a:pt x="806069" y="96774"/>
                  </a:cubicBezTo>
                  <a:lnTo>
                    <a:pt x="806069" y="709295"/>
                  </a:lnTo>
                  <a:cubicBezTo>
                    <a:pt x="806069" y="762762"/>
                    <a:pt x="762762" y="806069"/>
                    <a:pt x="709295" y="806069"/>
                  </a:cubicBezTo>
                  <a:lnTo>
                    <a:pt x="96774" y="806069"/>
                  </a:lnTo>
                  <a:cubicBezTo>
                    <a:pt x="43307" y="806069"/>
                    <a:pt x="0" y="762762"/>
                    <a:pt x="0" y="709295"/>
                  </a:cubicBezTo>
                  <a:close/>
                </a:path>
              </a:pathLst>
            </a:custGeom>
            <a:solidFill>
              <a:srgbClr val="39D3BE"/>
            </a:solidFill>
            <a:ln w="14299" cap="sq">
              <a:solidFill>
                <a:srgbClr val="39D3BE"/>
              </a:solidFill>
              <a:prstDash val="solid"/>
              <a:miter/>
            </a:ln>
          </p:spPr>
        </p:sp>
      </p:grpSp>
      <p:grpSp>
        <p:nvGrpSpPr>
          <p:cNvPr id="29" name="Group 29"/>
          <p:cNvGrpSpPr/>
          <p:nvPr/>
        </p:nvGrpSpPr>
        <p:grpSpPr>
          <a:xfrm>
            <a:off x="4323921" y="2875750"/>
            <a:ext cx="590245" cy="590245"/>
            <a:chOff x="0" y="0"/>
            <a:chExt cx="786994" cy="786994"/>
          </a:xfrm>
        </p:grpSpPr>
        <p:sp>
          <p:nvSpPr>
            <p:cNvPr id="30" name="Freeform 30"/>
            <p:cNvSpPr/>
            <p:nvPr/>
          </p:nvSpPr>
          <p:spPr>
            <a:xfrm>
              <a:off x="0" y="0"/>
              <a:ext cx="786999" cy="786999"/>
            </a:xfrm>
            <a:custGeom>
              <a:avLst/>
              <a:gdLst/>
              <a:ahLst/>
              <a:cxnLst/>
              <a:rect l="l" t="t" r="r" b="b"/>
              <a:pathLst>
                <a:path w="786999" h="786999">
                  <a:moveTo>
                    <a:pt x="0" y="0"/>
                  </a:moveTo>
                  <a:lnTo>
                    <a:pt x="786999" y="0"/>
                  </a:lnTo>
                  <a:lnTo>
                    <a:pt x="786999" y="786999"/>
                  </a:lnTo>
                  <a:lnTo>
                    <a:pt x="0" y="7869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2"/>
              </a:stretch>
            </a:blipFill>
          </p:spPr>
        </p:sp>
        <p:sp>
          <p:nvSpPr>
            <p:cNvPr id="31" name="TextBox 31"/>
            <p:cNvSpPr txBox="1"/>
            <p:nvPr/>
          </p:nvSpPr>
          <p:spPr>
            <a:xfrm>
              <a:off x="0" y="0"/>
              <a:ext cx="786994" cy="7869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1"/>
                </a:lnSpc>
              </a:pPr>
              <a:r>
                <a:rPr lang="en-US" sz="1501" b="1">
                  <a:solidFill>
                    <a:srgbClr val="080F1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02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5065157" y="2786520"/>
            <a:ext cx="1853108" cy="384353"/>
            <a:chOff x="0" y="0"/>
            <a:chExt cx="2470810" cy="512470"/>
          </a:xfrm>
        </p:grpSpPr>
        <p:sp>
          <p:nvSpPr>
            <p:cNvPr id="33" name="Freeform 33"/>
            <p:cNvSpPr/>
            <p:nvPr/>
          </p:nvSpPr>
          <p:spPr>
            <a:xfrm>
              <a:off x="0" y="0"/>
              <a:ext cx="2470810" cy="512464"/>
            </a:xfrm>
            <a:custGeom>
              <a:avLst/>
              <a:gdLst/>
              <a:ahLst/>
              <a:cxnLst/>
              <a:rect l="l" t="t" r="r" b="b"/>
              <a:pathLst>
                <a:path w="2470810" h="512464">
                  <a:moveTo>
                    <a:pt x="0" y="0"/>
                  </a:moveTo>
                  <a:lnTo>
                    <a:pt x="2470810" y="0"/>
                  </a:lnTo>
                  <a:lnTo>
                    <a:pt x="2470810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3945" b="-43946"/>
              </a:stretch>
            </a:blipFill>
          </p:spPr>
        </p:sp>
        <p:sp>
          <p:nvSpPr>
            <p:cNvPr id="34" name="TextBox 34"/>
            <p:cNvSpPr txBox="1"/>
            <p:nvPr/>
          </p:nvSpPr>
          <p:spPr>
            <a:xfrm>
              <a:off x="0" y="0"/>
              <a:ext cx="2470810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r>
                <a:rPr lang="en-US" sz="1801" b="1">
                  <a:solidFill>
                    <a:srgbClr val="F2F6F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Safety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065157" y="3170872"/>
            <a:ext cx="1853108" cy="384353"/>
            <a:chOff x="0" y="0"/>
            <a:chExt cx="2470810" cy="512470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2470810" cy="512464"/>
            </a:xfrm>
            <a:custGeom>
              <a:avLst/>
              <a:gdLst/>
              <a:ahLst/>
              <a:cxnLst/>
              <a:rect l="l" t="t" r="r" b="b"/>
              <a:pathLst>
                <a:path w="2470810" h="512464">
                  <a:moveTo>
                    <a:pt x="0" y="0"/>
                  </a:moveTo>
                  <a:lnTo>
                    <a:pt x="2470810" y="0"/>
                  </a:lnTo>
                  <a:lnTo>
                    <a:pt x="2470810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3945" b="-43946"/>
              </a:stretch>
            </a:blipFill>
          </p:spPr>
        </p:sp>
        <p:sp>
          <p:nvSpPr>
            <p:cNvPr id="37" name="TextBox 37"/>
            <p:cNvSpPr txBox="1"/>
            <p:nvPr/>
          </p:nvSpPr>
          <p:spPr>
            <a:xfrm>
              <a:off x="0" y="0"/>
              <a:ext cx="2470810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9FAEC6"/>
                  </a:solidFill>
                  <a:latin typeface="Aptos"/>
                  <a:ea typeface="Aptos"/>
                  <a:cs typeface="Aptos"/>
                  <a:sym typeface="Aptos"/>
                </a:rPr>
                <a:t>Intelligence</a:t>
              </a:r>
            </a:p>
          </p:txBody>
        </p:sp>
      </p:grpSp>
      <p:sp>
        <p:nvSpPr>
          <p:cNvPr id="38" name="AutoShape 38"/>
          <p:cNvSpPr/>
          <p:nvPr/>
        </p:nvSpPr>
        <p:spPr>
          <a:xfrm rot="296640">
            <a:off x="7232790" y="3312338"/>
            <a:ext cx="331822" cy="0"/>
          </a:xfrm>
          <a:prstGeom prst="line">
            <a:avLst/>
          </a:prstGeom>
          <a:ln w="19050" cap="rnd">
            <a:solidFill>
              <a:srgbClr val="9FAEC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39" name="Group 39"/>
          <p:cNvGrpSpPr/>
          <p:nvPr/>
        </p:nvGrpSpPr>
        <p:grpSpPr>
          <a:xfrm>
            <a:off x="7556278" y="2669562"/>
            <a:ext cx="3102807" cy="1318336"/>
            <a:chOff x="0" y="0"/>
            <a:chExt cx="4137076" cy="1757782"/>
          </a:xfrm>
        </p:grpSpPr>
        <p:sp>
          <p:nvSpPr>
            <p:cNvPr id="40" name="Freeform 40"/>
            <p:cNvSpPr/>
            <p:nvPr/>
          </p:nvSpPr>
          <p:spPr>
            <a:xfrm>
              <a:off x="0" y="0"/>
              <a:ext cx="4137152" cy="1757807"/>
            </a:xfrm>
            <a:custGeom>
              <a:avLst/>
              <a:gdLst/>
              <a:ahLst/>
              <a:cxnLst/>
              <a:rect l="l" t="t" r="r" b="b"/>
              <a:pathLst>
                <a:path w="4137152" h="1757807">
                  <a:moveTo>
                    <a:pt x="0" y="210947"/>
                  </a:moveTo>
                  <a:cubicBezTo>
                    <a:pt x="0" y="94488"/>
                    <a:pt x="94488" y="0"/>
                    <a:pt x="210947" y="0"/>
                  </a:cubicBezTo>
                  <a:lnTo>
                    <a:pt x="3926205" y="0"/>
                  </a:lnTo>
                  <a:cubicBezTo>
                    <a:pt x="4042664" y="0"/>
                    <a:pt x="4137152" y="94488"/>
                    <a:pt x="4137152" y="210947"/>
                  </a:cubicBezTo>
                  <a:lnTo>
                    <a:pt x="4137152" y="1546860"/>
                  </a:lnTo>
                  <a:cubicBezTo>
                    <a:pt x="4137152" y="1663319"/>
                    <a:pt x="4042664" y="1757807"/>
                    <a:pt x="3926205" y="1757807"/>
                  </a:cubicBezTo>
                  <a:lnTo>
                    <a:pt x="210947" y="1757807"/>
                  </a:lnTo>
                  <a:cubicBezTo>
                    <a:pt x="94488" y="1757807"/>
                    <a:pt x="0" y="1663319"/>
                    <a:pt x="0" y="1546860"/>
                  </a:cubicBezTo>
                  <a:close/>
                </a:path>
              </a:pathLst>
            </a:custGeom>
            <a:solidFill>
              <a:srgbClr val="111B30"/>
            </a:solidFill>
            <a:ln w="14299" cap="sq">
              <a:solidFill>
                <a:srgbClr val="111B30"/>
              </a:solidFill>
              <a:prstDash val="solid"/>
              <a:miter/>
            </a:ln>
          </p:spPr>
        </p:sp>
      </p:grpSp>
      <p:grpSp>
        <p:nvGrpSpPr>
          <p:cNvPr id="41" name="Group 41"/>
          <p:cNvGrpSpPr/>
          <p:nvPr/>
        </p:nvGrpSpPr>
        <p:grpSpPr>
          <a:xfrm>
            <a:off x="7720994" y="2875464"/>
            <a:ext cx="604552" cy="604552"/>
            <a:chOff x="0" y="0"/>
            <a:chExt cx="806069" cy="806069"/>
          </a:xfrm>
        </p:grpSpPr>
        <p:sp>
          <p:nvSpPr>
            <p:cNvPr id="42" name="Freeform 42"/>
            <p:cNvSpPr/>
            <p:nvPr/>
          </p:nvSpPr>
          <p:spPr>
            <a:xfrm>
              <a:off x="0" y="0"/>
              <a:ext cx="806069" cy="806069"/>
            </a:xfrm>
            <a:custGeom>
              <a:avLst/>
              <a:gdLst/>
              <a:ahLst/>
              <a:cxnLst/>
              <a:rect l="l" t="t" r="r" b="b"/>
              <a:pathLst>
                <a:path w="806069" h="806069">
                  <a:moveTo>
                    <a:pt x="0" y="96774"/>
                  </a:moveTo>
                  <a:cubicBezTo>
                    <a:pt x="0" y="43307"/>
                    <a:pt x="43307" y="0"/>
                    <a:pt x="96774" y="0"/>
                  </a:cubicBezTo>
                  <a:lnTo>
                    <a:pt x="709295" y="0"/>
                  </a:lnTo>
                  <a:cubicBezTo>
                    <a:pt x="762762" y="0"/>
                    <a:pt x="806069" y="43307"/>
                    <a:pt x="806069" y="96774"/>
                  </a:cubicBezTo>
                  <a:lnTo>
                    <a:pt x="806069" y="709295"/>
                  </a:lnTo>
                  <a:cubicBezTo>
                    <a:pt x="806069" y="762762"/>
                    <a:pt x="762762" y="806069"/>
                    <a:pt x="709295" y="806069"/>
                  </a:cubicBezTo>
                  <a:lnTo>
                    <a:pt x="96774" y="806069"/>
                  </a:lnTo>
                  <a:cubicBezTo>
                    <a:pt x="43307" y="806069"/>
                    <a:pt x="0" y="762762"/>
                    <a:pt x="0" y="709295"/>
                  </a:cubicBezTo>
                  <a:close/>
                </a:path>
              </a:pathLst>
            </a:custGeom>
            <a:solidFill>
              <a:srgbClr val="FFB84D"/>
            </a:solidFill>
            <a:ln w="14299" cap="sq">
              <a:solidFill>
                <a:srgbClr val="FFB84D"/>
              </a:solidFill>
              <a:prstDash val="solid"/>
              <a:miter/>
            </a:ln>
          </p:spPr>
        </p:sp>
      </p:grpSp>
      <p:grpSp>
        <p:nvGrpSpPr>
          <p:cNvPr id="43" name="Group 43"/>
          <p:cNvGrpSpPr/>
          <p:nvPr/>
        </p:nvGrpSpPr>
        <p:grpSpPr>
          <a:xfrm>
            <a:off x="7728147" y="2875750"/>
            <a:ext cx="590245" cy="590245"/>
            <a:chOff x="0" y="0"/>
            <a:chExt cx="786994" cy="786994"/>
          </a:xfrm>
        </p:grpSpPr>
        <p:sp>
          <p:nvSpPr>
            <p:cNvPr id="44" name="Freeform 44"/>
            <p:cNvSpPr/>
            <p:nvPr/>
          </p:nvSpPr>
          <p:spPr>
            <a:xfrm>
              <a:off x="0" y="0"/>
              <a:ext cx="786999" cy="786999"/>
            </a:xfrm>
            <a:custGeom>
              <a:avLst/>
              <a:gdLst/>
              <a:ahLst/>
              <a:cxnLst/>
              <a:rect l="l" t="t" r="r" b="b"/>
              <a:pathLst>
                <a:path w="786999" h="786999">
                  <a:moveTo>
                    <a:pt x="0" y="0"/>
                  </a:moveTo>
                  <a:lnTo>
                    <a:pt x="786999" y="0"/>
                  </a:lnTo>
                  <a:lnTo>
                    <a:pt x="786999" y="786999"/>
                  </a:lnTo>
                  <a:lnTo>
                    <a:pt x="0" y="7869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2"/>
              </a:stretch>
            </a:blipFill>
          </p:spPr>
        </p:sp>
        <p:sp>
          <p:nvSpPr>
            <p:cNvPr id="45" name="TextBox 45"/>
            <p:cNvSpPr txBox="1"/>
            <p:nvPr/>
          </p:nvSpPr>
          <p:spPr>
            <a:xfrm>
              <a:off x="0" y="0"/>
              <a:ext cx="786994" cy="7869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1"/>
                </a:lnSpc>
              </a:pPr>
              <a:r>
                <a:rPr lang="en-US" sz="1501" b="1">
                  <a:solidFill>
                    <a:srgbClr val="080F1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03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8469392" y="2786520"/>
            <a:ext cx="1853108" cy="384353"/>
            <a:chOff x="0" y="0"/>
            <a:chExt cx="2470810" cy="512470"/>
          </a:xfrm>
        </p:grpSpPr>
        <p:sp>
          <p:nvSpPr>
            <p:cNvPr id="47" name="Freeform 47"/>
            <p:cNvSpPr/>
            <p:nvPr/>
          </p:nvSpPr>
          <p:spPr>
            <a:xfrm>
              <a:off x="0" y="0"/>
              <a:ext cx="2470810" cy="512464"/>
            </a:xfrm>
            <a:custGeom>
              <a:avLst/>
              <a:gdLst/>
              <a:ahLst/>
              <a:cxnLst/>
              <a:rect l="l" t="t" r="r" b="b"/>
              <a:pathLst>
                <a:path w="2470810" h="512464">
                  <a:moveTo>
                    <a:pt x="0" y="0"/>
                  </a:moveTo>
                  <a:lnTo>
                    <a:pt x="2470810" y="0"/>
                  </a:lnTo>
                  <a:lnTo>
                    <a:pt x="2470810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3945" b="-43946"/>
              </a:stretch>
            </a:blipFill>
          </p:spPr>
        </p:sp>
        <p:sp>
          <p:nvSpPr>
            <p:cNvPr id="48" name="TextBox 48"/>
            <p:cNvSpPr txBox="1"/>
            <p:nvPr/>
          </p:nvSpPr>
          <p:spPr>
            <a:xfrm>
              <a:off x="0" y="0"/>
              <a:ext cx="2470810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r>
                <a:rPr lang="en-US" sz="1801" b="1">
                  <a:solidFill>
                    <a:srgbClr val="F2F6F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Signal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469392" y="3170872"/>
            <a:ext cx="1853108" cy="384353"/>
            <a:chOff x="0" y="0"/>
            <a:chExt cx="2470810" cy="512470"/>
          </a:xfrm>
        </p:grpSpPr>
        <p:sp>
          <p:nvSpPr>
            <p:cNvPr id="50" name="Freeform 50"/>
            <p:cNvSpPr/>
            <p:nvPr/>
          </p:nvSpPr>
          <p:spPr>
            <a:xfrm>
              <a:off x="0" y="0"/>
              <a:ext cx="2470810" cy="512464"/>
            </a:xfrm>
            <a:custGeom>
              <a:avLst/>
              <a:gdLst/>
              <a:ahLst/>
              <a:cxnLst/>
              <a:rect l="l" t="t" r="r" b="b"/>
              <a:pathLst>
                <a:path w="2470810" h="512464">
                  <a:moveTo>
                    <a:pt x="0" y="0"/>
                  </a:moveTo>
                  <a:lnTo>
                    <a:pt x="2470810" y="0"/>
                  </a:lnTo>
                  <a:lnTo>
                    <a:pt x="2470810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3945" b="-43946"/>
              </a:stretch>
            </a:blipFill>
          </p:spPr>
        </p:sp>
        <p:sp>
          <p:nvSpPr>
            <p:cNvPr id="51" name="TextBox 51"/>
            <p:cNvSpPr txBox="1"/>
            <p:nvPr/>
          </p:nvSpPr>
          <p:spPr>
            <a:xfrm>
              <a:off x="0" y="0"/>
              <a:ext cx="2470810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9FAEC6"/>
                  </a:solidFill>
                  <a:latin typeface="Aptos"/>
                  <a:ea typeface="Aptos"/>
                  <a:cs typeface="Aptos"/>
                  <a:sym typeface="Aptos"/>
                </a:rPr>
                <a:t>Trends</a:t>
              </a:r>
            </a:p>
          </p:txBody>
        </p:sp>
      </p:grpSp>
      <p:sp>
        <p:nvSpPr>
          <p:cNvPr id="52" name="AutoShape 52"/>
          <p:cNvSpPr/>
          <p:nvPr/>
        </p:nvSpPr>
        <p:spPr>
          <a:xfrm rot="296640">
            <a:off x="10637025" y="3312338"/>
            <a:ext cx="331822" cy="0"/>
          </a:xfrm>
          <a:prstGeom prst="line">
            <a:avLst/>
          </a:prstGeom>
          <a:ln w="19050" cap="rnd">
            <a:solidFill>
              <a:srgbClr val="9FAEC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3" name="Group 53"/>
          <p:cNvGrpSpPr/>
          <p:nvPr/>
        </p:nvGrpSpPr>
        <p:grpSpPr>
          <a:xfrm>
            <a:off x="10960503" y="2669562"/>
            <a:ext cx="3102807" cy="1318336"/>
            <a:chOff x="0" y="0"/>
            <a:chExt cx="4137076" cy="1757782"/>
          </a:xfrm>
        </p:grpSpPr>
        <p:sp>
          <p:nvSpPr>
            <p:cNvPr id="54" name="Freeform 54"/>
            <p:cNvSpPr/>
            <p:nvPr/>
          </p:nvSpPr>
          <p:spPr>
            <a:xfrm>
              <a:off x="0" y="0"/>
              <a:ext cx="4137152" cy="1757807"/>
            </a:xfrm>
            <a:custGeom>
              <a:avLst/>
              <a:gdLst/>
              <a:ahLst/>
              <a:cxnLst/>
              <a:rect l="l" t="t" r="r" b="b"/>
              <a:pathLst>
                <a:path w="4137152" h="1757807">
                  <a:moveTo>
                    <a:pt x="0" y="210947"/>
                  </a:moveTo>
                  <a:cubicBezTo>
                    <a:pt x="0" y="94488"/>
                    <a:pt x="94488" y="0"/>
                    <a:pt x="210947" y="0"/>
                  </a:cubicBezTo>
                  <a:lnTo>
                    <a:pt x="3926205" y="0"/>
                  </a:lnTo>
                  <a:cubicBezTo>
                    <a:pt x="4042664" y="0"/>
                    <a:pt x="4137152" y="94488"/>
                    <a:pt x="4137152" y="210947"/>
                  </a:cubicBezTo>
                  <a:lnTo>
                    <a:pt x="4137152" y="1546860"/>
                  </a:lnTo>
                  <a:cubicBezTo>
                    <a:pt x="4137152" y="1663319"/>
                    <a:pt x="4042664" y="1757807"/>
                    <a:pt x="3926205" y="1757807"/>
                  </a:cubicBezTo>
                  <a:lnTo>
                    <a:pt x="210947" y="1757807"/>
                  </a:lnTo>
                  <a:cubicBezTo>
                    <a:pt x="94488" y="1757807"/>
                    <a:pt x="0" y="1663319"/>
                    <a:pt x="0" y="1546860"/>
                  </a:cubicBezTo>
                  <a:close/>
                </a:path>
              </a:pathLst>
            </a:custGeom>
            <a:solidFill>
              <a:srgbClr val="111B30"/>
            </a:solidFill>
            <a:ln w="14299" cap="sq">
              <a:solidFill>
                <a:srgbClr val="111B30"/>
              </a:solidFill>
              <a:prstDash val="solid"/>
              <a:miter/>
            </a:ln>
          </p:spPr>
        </p:sp>
      </p:grpSp>
      <p:grpSp>
        <p:nvGrpSpPr>
          <p:cNvPr id="55" name="Group 55"/>
          <p:cNvGrpSpPr/>
          <p:nvPr/>
        </p:nvGrpSpPr>
        <p:grpSpPr>
          <a:xfrm>
            <a:off x="11125219" y="2875464"/>
            <a:ext cx="604552" cy="604552"/>
            <a:chOff x="0" y="0"/>
            <a:chExt cx="806069" cy="806069"/>
          </a:xfrm>
        </p:grpSpPr>
        <p:sp>
          <p:nvSpPr>
            <p:cNvPr id="56" name="Freeform 56"/>
            <p:cNvSpPr/>
            <p:nvPr/>
          </p:nvSpPr>
          <p:spPr>
            <a:xfrm>
              <a:off x="0" y="0"/>
              <a:ext cx="806069" cy="806069"/>
            </a:xfrm>
            <a:custGeom>
              <a:avLst/>
              <a:gdLst/>
              <a:ahLst/>
              <a:cxnLst/>
              <a:rect l="l" t="t" r="r" b="b"/>
              <a:pathLst>
                <a:path w="806069" h="806069">
                  <a:moveTo>
                    <a:pt x="0" y="96774"/>
                  </a:moveTo>
                  <a:cubicBezTo>
                    <a:pt x="0" y="43307"/>
                    <a:pt x="43307" y="0"/>
                    <a:pt x="96774" y="0"/>
                  </a:cubicBezTo>
                  <a:lnTo>
                    <a:pt x="709295" y="0"/>
                  </a:lnTo>
                  <a:cubicBezTo>
                    <a:pt x="762762" y="0"/>
                    <a:pt x="806069" y="43307"/>
                    <a:pt x="806069" y="96774"/>
                  </a:cubicBezTo>
                  <a:lnTo>
                    <a:pt x="806069" y="709295"/>
                  </a:lnTo>
                  <a:cubicBezTo>
                    <a:pt x="806069" y="762762"/>
                    <a:pt x="762762" y="806069"/>
                    <a:pt x="709295" y="806069"/>
                  </a:cubicBezTo>
                  <a:lnTo>
                    <a:pt x="96774" y="806069"/>
                  </a:lnTo>
                  <a:cubicBezTo>
                    <a:pt x="43307" y="806069"/>
                    <a:pt x="0" y="762762"/>
                    <a:pt x="0" y="709295"/>
                  </a:cubicBezTo>
                  <a:close/>
                </a:path>
              </a:pathLst>
            </a:custGeom>
            <a:solidFill>
              <a:srgbClr val="4889FF"/>
            </a:solidFill>
            <a:ln w="14299" cap="sq">
              <a:solidFill>
                <a:srgbClr val="4889FF"/>
              </a:solidFill>
              <a:prstDash val="solid"/>
              <a:miter/>
            </a:ln>
          </p:spPr>
        </p:sp>
      </p:grpSp>
      <p:grpSp>
        <p:nvGrpSpPr>
          <p:cNvPr id="57" name="Group 57"/>
          <p:cNvGrpSpPr/>
          <p:nvPr/>
        </p:nvGrpSpPr>
        <p:grpSpPr>
          <a:xfrm>
            <a:off x="11132372" y="2875750"/>
            <a:ext cx="590245" cy="590245"/>
            <a:chOff x="0" y="0"/>
            <a:chExt cx="786994" cy="786994"/>
          </a:xfrm>
        </p:grpSpPr>
        <p:sp>
          <p:nvSpPr>
            <p:cNvPr id="58" name="Freeform 58"/>
            <p:cNvSpPr/>
            <p:nvPr/>
          </p:nvSpPr>
          <p:spPr>
            <a:xfrm>
              <a:off x="0" y="0"/>
              <a:ext cx="786999" cy="786999"/>
            </a:xfrm>
            <a:custGeom>
              <a:avLst/>
              <a:gdLst/>
              <a:ahLst/>
              <a:cxnLst/>
              <a:rect l="l" t="t" r="r" b="b"/>
              <a:pathLst>
                <a:path w="786999" h="786999">
                  <a:moveTo>
                    <a:pt x="0" y="0"/>
                  </a:moveTo>
                  <a:lnTo>
                    <a:pt x="786999" y="0"/>
                  </a:lnTo>
                  <a:lnTo>
                    <a:pt x="786999" y="786999"/>
                  </a:lnTo>
                  <a:lnTo>
                    <a:pt x="0" y="7869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2"/>
              </a:stretch>
            </a:blipFill>
          </p:spPr>
        </p:sp>
        <p:sp>
          <p:nvSpPr>
            <p:cNvPr id="59" name="TextBox 59"/>
            <p:cNvSpPr txBox="1"/>
            <p:nvPr/>
          </p:nvSpPr>
          <p:spPr>
            <a:xfrm>
              <a:off x="0" y="0"/>
              <a:ext cx="786994" cy="7869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1"/>
                </a:lnSpc>
              </a:pPr>
              <a:r>
                <a:rPr lang="en-US" sz="1501" b="1">
                  <a:solidFill>
                    <a:srgbClr val="080F1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04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11873617" y="2786520"/>
            <a:ext cx="1853108" cy="384353"/>
            <a:chOff x="0" y="0"/>
            <a:chExt cx="2470810" cy="512470"/>
          </a:xfrm>
        </p:grpSpPr>
        <p:sp>
          <p:nvSpPr>
            <p:cNvPr id="61" name="Freeform 61"/>
            <p:cNvSpPr/>
            <p:nvPr/>
          </p:nvSpPr>
          <p:spPr>
            <a:xfrm>
              <a:off x="0" y="0"/>
              <a:ext cx="2470810" cy="512464"/>
            </a:xfrm>
            <a:custGeom>
              <a:avLst/>
              <a:gdLst/>
              <a:ahLst/>
              <a:cxnLst/>
              <a:rect l="l" t="t" r="r" b="b"/>
              <a:pathLst>
                <a:path w="2470810" h="512464">
                  <a:moveTo>
                    <a:pt x="0" y="0"/>
                  </a:moveTo>
                  <a:lnTo>
                    <a:pt x="2470810" y="0"/>
                  </a:lnTo>
                  <a:lnTo>
                    <a:pt x="2470810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3945" b="-43946"/>
              </a:stretch>
            </a:blipFill>
          </p:spPr>
        </p:sp>
        <p:sp>
          <p:nvSpPr>
            <p:cNvPr id="62" name="TextBox 62"/>
            <p:cNvSpPr txBox="1"/>
            <p:nvPr/>
          </p:nvSpPr>
          <p:spPr>
            <a:xfrm>
              <a:off x="0" y="0"/>
              <a:ext cx="2470810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r>
                <a:rPr lang="en-US" sz="1801" b="1">
                  <a:solidFill>
                    <a:srgbClr val="F2F6F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Event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11873617" y="3170872"/>
            <a:ext cx="1853108" cy="384353"/>
            <a:chOff x="0" y="0"/>
            <a:chExt cx="2470810" cy="512470"/>
          </a:xfrm>
        </p:grpSpPr>
        <p:sp>
          <p:nvSpPr>
            <p:cNvPr id="64" name="Freeform 64"/>
            <p:cNvSpPr/>
            <p:nvPr/>
          </p:nvSpPr>
          <p:spPr>
            <a:xfrm>
              <a:off x="0" y="0"/>
              <a:ext cx="2470810" cy="512464"/>
            </a:xfrm>
            <a:custGeom>
              <a:avLst/>
              <a:gdLst/>
              <a:ahLst/>
              <a:cxnLst/>
              <a:rect l="l" t="t" r="r" b="b"/>
              <a:pathLst>
                <a:path w="2470810" h="512464">
                  <a:moveTo>
                    <a:pt x="0" y="0"/>
                  </a:moveTo>
                  <a:lnTo>
                    <a:pt x="2470810" y="0"/>
                  </a:lnTo>
                  <a:lnTo>
                    <a:pt x="2470810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3945" b="-43946"/>
              </a:stretch>
            </a:blipFill>
          </p:spPr>
        </p:sp>
        <p:sp>
          <p:nvSpPr>
            <p:cNvPr id="65" name="TextBox 65"/>
            <p:cNvSpPr txBox="1"/>
            <p:nvPr/>
          </p:nvSpPr>
          <p:spPr>
            <a:xfrm>
              <a:off x="0" y="0"/>
              <a:ext cx="2470810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9FAEC6"/>
                  </a:solidFill>
                  <a:latin typeface="Aptos"/>
                  <a:ea typeface="Aptos"/>
                  <a:cs typeface="Aptos"/>
                  <a:sym typeface="Aptos"/>
                </a:rPr>
                <a:t>Clustering</a:t>
              </a:r>
            </a:p>
          </p:txBody>
        </p:sp>
      </p:grpSp>
      <p:sp>
        <p:nvSpPr>
          <p:cNvPr id="66" name="AutoShape 66"/>
          <p:cNvSpPr/>
          <p:nvPr/>
        </p:nvSpPr>
        <p:spPr>
          <a:xfrm rot="296640">
            <a:off x="14041250" y="3312338"/>
            <a:ext cx="331822" cy="0"/>
          </a:xfrm>
          <a:prstGeom prst="line">
            <a:avLst/>
          </a:prstGeom>
          <a:ln w="19050" cap="rnd">
            <a:solidFill>
              <a:srgbClr val="9FAEC6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67" name="Group 67"/>
          <p:cNvGrpSpPr/>
          <p:nvPr/>
        </p:nvGrpSpPr>
        <p:grpSpPr>
          <a:xfrm>
            <a:off x="14364729" y="2669562"/>
            <a:ext cx="3102807" cy="1318336"/>
            <a:chOff x="0" y="0"/>
            <a:chExt cx="4137076" cy="1757782"/>
          </a:xfrm>
        </p:grpSpPr>
        <p:sp>
          <p:nvSpPr>
            <p:cNvPr id="68" name="Freeform 68"/>
            <p:cNvSpPr/>
            <p:nvPr/>
          </p:nvSpPr>
          <p:spPr>
            <a:xfrm>
              <a:off x="0" y="0"/>
              <a:ext cx="4137152" cy="1757807"/>
            </a:xfrm>
            <a:custGeom>
              <a:avLst/>
              <a:gdLst/>
              <a:ahLst/>
              <a:cxnLst/>
              <a:rect l="l" t="t" r="r" b="b"/>
              <a:pathLst>
                <a:path w="4137152" h="1757807">
                  <a:moveTo>
                    <a:pt x="0" y="210947"/>
                  </a:moveTo>
                  <a:cubicBezTo>
                    <a:pt x="0" y="94488"/>
                    <a:pt x="94488" y="0"/>
                    <a:pt x="210947" y="0"/>
                  </a:cubicBezTo>
                  <a:lnTo>
                    <a:pt x="3926205" y="0"/>
                  </a:lnTo>
                  <a:cubicBezTo>
                    <a:pt x="4042664" y="0"/>
                    <a:pt x="4137152" y="94488"/>
                    <a:pt x="4137152" y="210947"/>
                  </a:cubicBezTo>
                  <a:lnTo>
                    <a:pt x="4137152" y="1546860"/>
                  </a:lnTo>
                  <a:cubicBezTo>
                    <a:pt x="4137152" y="1663319"/>
                    <a:pt x="4042664" y="1757807"/>
                    <a:pt x="3926205" y="1757807"/>
                  </a:cubicBezTo>
                  <a:lnTo>
                    <a:pt x="210947" y="1757807"/>
                  </a:lnTo>
                  <a:cubicBezTo>
                    <a:pt x="94488" y="1757807"/>
                    <a:pt x="0" y="1663319"/>
                    <a:pt x="0" y="1546860"/>
                  </a:cubicBezTo>
                  <a:close/>
                </a:path>
              </a:pathLst>
            </a:custGeom>
            <a:solidFill>
              <a:srgbClr val="111B30"/>
            </a:solidFill>
            <a:ln w="14299" cap="sq">
              <a:solidFill>
                <a:srgbClr val="111B30"/>
              </a:solidFill>
              <a:prstDash val="solid"/>
              <a:miter/>
            </a:ln>
          </p:spPr>
        </p:sp>
      </p:grpSp>
      <p:grpSp>
        <p:nvGrpSpPr>
          <p:cNvPr id="69" name="Group 69"/>
          <p:cNvGrpSpPr/>
          <p:nvPr/>
        </p:nvGrpSpPr>
        <p:grpSpPr>
          <a:xfrm>
            <a:off x="14529454" y="2875464"/>
            <a:ext cx="604552" cy="604552"/>
            <a:chOff x="0" y="0"/>
            <a:chExt cx="806069" cy="806069"/>
          </a:xfrm>
        </p:grpSpPr>
        <p:sp>
          <p:nvSpPr>
            <p:cNvPr id="70" name="Freeform 70"/>
            <p:cNvSpPr/>
            <p:nvPr/>
          </p:nvSpPr>
          <p:spPr>
            <a:xfrm>
              <a:off x="0" y="0"/>
              <a:ext cx="806069" cy="806069"/>
            </a:xfrm>
            <a:custGeom>
              <a:avLst/>
              <a:gdLst/>
              <a:ahLst/>
              <a:cxnLst/>
              <a:rect l="l" t="t" r="r" b="b"/>
              <a:pathLst>
                <a:path w="806069" h="806069">
                  <a:moveTo>
                    <a:pt x="0" y="96774"/>
                  </a:moveTo>
                  <a:cubicBezTo>
                    <a:pt x="0" y="43307"/>
                    <a:pt x="43307" y="0"/>
                    <a:pt x="96774" y="0"/>
                  </a:cubicBezTo>
                  <a:lnTo>
                    <a:pt x="709295" y="0"/>
                  </a:lnTo>
                  <a:cubicBezTo>
                    <a:pt x="762762" y="0"/>
                    <a:pt x="806069" y="43307"/>
                    <a:pt x="806069" y="96774"/>
                  </a:cubicBezTo>
                  <a:lnTo>
                    <a:pt x="806069" y="709295"/>
                  </a:lnTo>
                  <a:cubicBezTo>
                    <a:pt x="806069" y="762762"/>
                    <a:pt x="762762" y="806069"/>
                    <a:pt x="709295" y="806069"/>
                  </a:cubicBezTo>
                  <a:lnTo>
                    <a:pt x="96774" y="806069"/>
                  </a:lnTo>
                  <a:cubicBezTo>
                    <a:pt x="43307" y="806069"/>
                    <a:pt x="0" y="762762"/>
                    <a:pt x="0" y="709295"/>
                  </a:cubicBezTo>
                  <a:close/>
                </a:path>
              </a:pathLst>
            </a:custGeom>
            <a:solidFill>
              <a:srgbClr val="4AD28B"/>
            </a:solidFill>
            <a:ln w="14299" cap="sq">
              <a:solidFill>
                <a:srgbClr val="4AD28B"/>
              </a:solidFill>
              <a:prstDash val="solid"/>
              <a:miter/>
            </a:ln>
          </p:spPr>
        </p:sp>
      </p:grpSp>
      <p:grpSp>
        <p:nvGrpSpPr>
          <p:cNvPr id="71" name="Group 71"/>
          <p:cNvGrpSpPr/>
          <p:nvPr/>
        </p:nvGrpSpPr>
        <p:grpSpPr>
          <a:xfrm>
            <a:off x="14536598" y="2875750"/>
            <a:ext cx="590245" cy="590245"/>
            <a:chOff x="0" y="0"/>
            <a:chExt cx="786994" cy="786994"/>
          </a:xfrm>
        </p:grpSpPr>
        <p:sp>
          <p:nvSpPr>
            <p:cNvPr id="72" name="Freeform 72"/>
            <p:cNvSpPr/>
            <p:nvPr/>
          </p:nvSpPr>
          <p:spPr>
            <a:xfrm>
              <a:off x="0" y="0"/>
              <a:ext cx="786999" cy="786999"/>
            </a:xfrm>
            <a:custGeom>
              <a:avLst/>
              <a:gdLst/>
              <a:ahLst/>
              <a:cxnLst/>
              <a:rect l="l" t="t" r="r" b="b"/>
              <a:pathLst>
                <a:path w="786999" h="786999">
                  <a:moveTo>
                    <a:pt x="0" y="0"/>
                  </a:moveTo>
                  <a:lnTo>
                    <a:pt x="786999" y="0"/>
                  </a:lnTo>
                  <a:lnTo>
                    <a:pt x="786999" y="786999"/>
                  </a:lnTo>
                  <a:lnTo>
                    <a:pt x="0" y="78699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r="-78302"/>
              </a:stretch>
            </a:blipFill>
          </p:spPr>
        </p:sp>
        <p:sp>
          <p:nvSpPr>
            <p:cNvPr id="73" name="TextBox 73"/>
            <p:cNvSpPr txBox="1"/>
            <p:nvPr/>
          </p:nvSpPr>
          <p:spPr>
            <a:xfrm>
              <a:off x="0" y="0"/>
              <a:ext cx="786994" cy="78699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801"/>
                </a:lnSpc>
              </a:pPr>
              <a:r>
                <a:rPr lang="en-US" sz="1501" b="1">
                  <a:solidFill>
                    <a:srgbClr val="080F1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05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15277843" y="2786520"/>
            <a:ext cx="1853108" cy="384353"/>
            <a:chOff x="0" y="0"/>
            <a:chExt cx="2470810" cy="512470"/>
          </a:xfrm>
        </p:grpSpPr>
        <p:sp>
          <p:nvSpPr>
            <p:cNvPr id="75" name="Freeform 75"/>
            <p:cNvSpPr/>
            <p:nvPr/>
          </p:nvSpPr>
          <p:spPr>
            <a:xfrm>
              <a:off x="0" y="0"/>
              <a:ext cx="2470810" cy="512464"/>
            </a:xfrm>
            <a:custGeom>
              <a:avLst/>
              <a:gdLst/>
              <a:ahLst/>
              <a:cxnLst/>
              <a:rect l="l" t="t" r="r" b="b"/>
              <a:pathLst>
                <a:path w="2470810" h="512464">
                  <a:moveTo>
                    <a:pt x="0" y="0"/>
                  </a:moveTo>
                  <a:lnTo>
                    <a:pt x="2470810" y="0"/>
                  </a:lnTo>
                  <a:lnTo>
                    <a:pt x="2470810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3945" b="-43946"/>
              </a:stretch>
            </a:blipFill>
          </p:spPr>
        </p:sp>
        <p:sp>
          <p:nvSpPr>
            <p:cNvPr id="76" name="TextBox 76"/>
            <p:cNvSpPr txBox="1"/>
            <p:nvPr/>
          </p:nvSpPr>
          <p:spPr>
            <a:xfrm>
              <a:off x="0" y="0"/>
              <a:ext cx="2470810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r>
                <a:rPr lang="en-US" sz="1801" b="1">
                  <a:solidFill>
                    <a:srgbClr val="F2F6F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CTD</a:t>
              </a:r>
            </a:p>
          </p:txBody>
        </p:sp>
      </p:grpSp>
      <p:grpSp>
        <p:nvGrpSpPr>
          <p:cNvPr id="77" name="Group 77"/>
          <p:cNvGrpSpPr/>
          <p:nvPr/>
        </p:nvGrpSpPr>
        <p:grpSpPr>
          <a:xfrm>
            <a:off x="15277843" y="3170872"/>
            <a:ext cx="1853108" cy="384353"/>
            <a:chOff x="0" y="0"/>
            <a:chExt cx="2470810" cy="512470"/>
          </a:xfrm>
        </p:grpSpPr>
        <p:sp>
          <p:nvSpPr>
            <p:cNvPr id="78" name="Freeform 78"/>
            <p:cNvSpPr/>
            <p:nvPr/>
          </p:nvSpPr>
          <p:spPr>
            <a:xfrm>
              <a:off x="0" y="0"/>
              <a:ext cx="2470810" cy="512464"/>
            </a:xfrm>
            <a:custGeom>
              <a:avLst/>
              <a:gdLst/>
              <a:ahLst/>
              <a:cxnLst/>
              <a:rect l="l" t="t" r="r" b="b"/>
              <a:pathLst>
                <a:path w="2470810" h="512464">
                  <a:moveTo>
                    <a:pt x="0" y="0"/>
                  </a:moveTo>
                  <a:lnTo>
                    <a:pt x="2470810" y="0"/>
                  </a:lnTo>
                  <a:lnTo>
                    <a:pt x="2470810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3945" b="-43946"/>
              </a:stretch>
            </a:blipFill>
          </p:spPr>
        </p:sp>
        <p:sp>
          <p:nvSpPr>
            <p:cNvPr id="79" name="TextBox 79"/>
            <p:cNvSpPr txBox="1"/>
            <p:nvPr/>
          </p:nvSpPr>
          <p:spPr>
            <a:xfrm>
              <a:off x="0" y="0"/>
              <a:ext cx="2470810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r>
                <a:rPr lang="en-US" sz="1801">
                  <a:solidFill>
                    <a:srgbClr val="9FAEC6"/>
                  </a:solidFill>
                  <a:latin typeface="Aptos"/>
                  <a:ea typeface="Aptos"/>
                  <a:cs typeface="Aptos"/>
                  <a:sym typeface="Aptos"/>
                </a:rPr>
                <a:t>Readiness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747817" y="4454033"/>
            <a:ext cx="16802081" cy="4887287"/>
            <a:chOff x="0" y="0"/>
            <a:chExt cx="22402775" cy="6516383"/>
          </a:xfrm>
        </p:grpSpPr>
        <p:sp>
          <p:nvSpPr>
            <p:cNvPr id="81" name="Freeform 81"/>
            <p:cNvSpPr/>
            <p:nvPr/>
          </p:nvSpPr>
          <p:spPr>
            <a:xfrm>
              <a:off x="0" y="0"/>
              <a:ext cx="22402800" cy="6516370"/>
            </a:xfrm>
            <a:custGeom>
              <a:avLst/>
              <a:gdLst/>
              <a:ahLst/>
              <a:cxnLst/>
              <a:rect l="l" t="t" r="r" b="b"/>
              <a:pathLst>
                <a:path w="22402800" h="6516370">
                  <a:moveTo>
                    <a:pt x="0" y="781939"/>
                  </a:moveTo>
                  <a:cubicBezTo>
                    <a:pt x="0" y="350139"/>
                    <a:pt x="350139" y="0"/>
                    <a:pt x="781939" y="0"/>
                  </a:cubicBezTo>
                  <a:lnTo>
                    <a:pt x="21620862" y="0"/>
                  </a:lnTo>
                  <a:cubicBezTo>
                    <a:pt x="22052662" y="0"/>
                    <a:pt x="22402800" y="350139"/>
                    <a:pt x="22402800" y="781939"/>
                  </a:cubicBezTo>
                  <a:lnTo>
                    <a:pt x="22402800" y="5734431"/>
                  </a:lnTo>
                  <a:cubicBezTo>
                    <a:pt x="22402800" y="6166358"/>
                    <a:pt x="22052662" y="6516370"/>
                    <a:pt x="21620862" y="6516370"/>
                  </a:cubicBezTo>
                  <a:lnTo>
                    <a:pt x="781939" y="6516370"/>
                  </a:lnTo>
                  <a:cubicBezTo>
                    <a:pt x="350139" y="6516370"/>
                    <a:pt x="0" y="6166231"/>
                    <a:pt x="0" y="5734431"/>
                  </a:cubicBezTo>
                  <a:close/>
                </a:path>
              </a:pathLst>
            </a:custGeom>
            <a:solidFill>
              <a:srgbClr val="111B30"/>
            </a:solidFill>
            <a:ln w="14299" cap="sq">
              <a:solidFill>
                <a:srgbClr val="111B30"/>
              </a:solidFill>
              <a:prstDash val="solid"/>
              <a:miter/>
            </a:ln>
          </p:spPr>
        </p:sp>
      </p:grpSp>
      <p:grpSp>
        <p:nvGrpSpPr>
          <p:cNvPr id="82" name="Group 82"/>
          <p:cNvGrpSpPr/>
          <p:nvPr/>
        </p:nvGrpSpPr>
        <p:grpSpPr>
          <a:xfrm>
            <a:off x="747817" y="4454033"/>
            <a:ext cx="2965542" cy="4887287"/>
            <a:chOff x="0" y="0"/>
            <a:chExt cx="3954056" cy="6516383"/>
          </a:xfrm>
        </p:grpSpPr>
        <p:sp>
          <p:nvSpPr>
            <p:cNvPr id="83" name="Freeform 83"/>
            <p:cNvSpPr/>
            <p:nvPr/>
          </p:nvSpPr>
          <p:spPr>
            <a:xfrm>
              <a:off x="0" y="0"/>
              <a:ext cx="3954018" cy="6516370"/>
            </a:xfrm>
            <a:custGeom>
              <a:avLst/>
              <a:gdLst/>
              <a:ahLst/>
              <a:cxnLst/>
              <a:rect l="l" t="t" r="r" b="b"/>
              <a:pathLst>
                <a:path w="3954018" h="6516370">
                  <a:moveTo>
                    <a:pt x="0" y="474472"/>
                  </a:moveTo>
                  <a:cubicBezTo>
                    <a:pt x="0" y="212471"/>
                    <a:pt x="212471" y="0"/>
                    <a:pt x="474472" y="0"/>
                  </a:cubicBezTo>
                  <a:lnTo>
                    <a:pt x="3479546" y="0"/>
                  </a:lnTo>
                  <a:cubicBezTo>
                    <a:pt x="3741547" y="0"/>
                    <a:pt x="3954018" y="212471"/>
                    <a:pt x="3954018" y="474472"/>
                  </a:cubicBezTo>
                  <a:lnTo>
                    <a:pt x="3954018" y="6041898"/>
                  </a:lnTo>
                  <a:cubicBezTo>
                    <a:pt x="3954018" y="6303899"/>
                    <a:pt x="3741547" y="6516370"/>
                    <a:pt x="3479546" y="6516370"/>
                  </a:cubicBezTo>
                  <a:lnTo>
                    <a:pt x="474472" y="6516370"/>
                  </a:lnTo>
                  <a:cubicBezTo>
                    <a:pt x="212471" y="6516370"/>
                    <a:pt x="0" y="6303899"/>
                    <a:pt x="0" y="6041898"/>
                  </a:cubicBezTo>
                  <a:close/>
                </a:path>
              </a:pathLst>
            </a:custGeom>
            <a:solidFill>
              <a:srgbClr val="17243D"/>
            </a:solidFill>
            <a:ln w="14299" cap="sq">
              <a:solidFill>
                <a:srgbClr val="17243D"/>
              </a:solidFill>
              <a:prstDash val="solid"/>
              <a:miter/>
            </a:ln>
          </p:spPr>
        </p:sp>
      </p:grpSp>
      <p:grpSp>
        <p:nvGrpSpPr>
          <p:cNvPr id="84" name="Group 84"/>
          <p:cNvGrpSpPr/>
          <p:nvPr/>
        </p:nvGrpSpPr>
        <p:grpSpPr>
          <a:xfrm>
            <a:off x="1125588" y="4845529"/>
            <a:ext cx="2127647" cy="480431"/>
            <a:chOff x="0" y="0"/>
            <a:chExt cx="2836862" cy="640575"/>
          </a:xfrm>
        </p:grpSpPr>
        <p:sp>
          <p:nvSpPr>
            <p:cNvPr id="85" name="Freeform 85"/>
            <p:cNvSpPr/>
            <p:nvPr/>
          </p:nvSpPr>
          <p:spPr>
            <a:xfrm>
              <a:off x="0" y="0"/>
              <a:ext cx="2836856" cy="640580"/>
            </a:xfrm>
            <a:custGeom>
              <a:avLst/>
              <a:gdLst/>
              <a:ahLst/>
              <a:cxnLst/>
              <a:rect l="l" t="t" r="r" b="b"/>
              <a:pathLst>
                <a:path w="2836856" h="640580">
                  <a:moveTo>
                    <a:pt x="0" y="0"/>
                  </a:moveTo>
                  <a:lnTo>
                    <a:pt x="2836856" y="0"/>
                  </a:lnTo>
                  <a:lnTo>
                    <a:pt x="2836856" y="640580"/>
                  </a:lnTo>
                  <a:lnTo>
                    <a:pt x="0" y="6405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6291" b="-36290"/>
              </a:stretch>
            </a:blipFill>
          </p:spPr>
        </p:sp>
        <p:sp>
          <p:nvSpPr>
            <p:cNvPr id="86" name="TextBox 86"/>
            <p:cNvSpPr txBox="1"/>
            <p:nvPr/>
          </p:nvSpPr>
          <p:spPr>
            <a:xfrm>
              <a:off x="0" y="-9525"/>
              <a:ext cx="2836862" cy="65010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1"/>
                </a:lnSpc>
              </a:pPr>
              <a:r>
                <a:rPr lang="en-US" sz="2101" b="1">
                  <a:solidFill>
                    <a:srgbClr val="F2F6F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PHARMAGUARD</a:t>
              </a:r>
            </a:p>
          </p:txBody>
        </p:sp>
      </p:grpSp>
      <p:grpSp>
        <p:nvGrpSpPr>
          <p:cNvPr id="87" name="Group 87"/>
          <p:cNvGrpSpPr/>
          <p:nvPr/>
        </p:nvGrpSpPr>
        <p:grpSpPr>
          <a:xfrm>
            <a:off x="1125588" y="5298519"/>
            <a:ext cx="2127647" cy="301990"/>
            <a:chOff x="0" y="0"/>
            <a:chExt cx="2836862" cy="402654"/>
          </a:xfrm>
        </p:grpSpPr>
        <p:sp>
          <p:nvSpPr>
            <p:cNvPr id="88" name="Freeform 88"/>
            <p:cNvSpPr/>
            <p:nvPr/>
          </p:nvSpPr>
          <p:spPr>
            <a:xfrm>
              <a:off x="0" y="0"/>
              <a:ext cx="2836856" cy="402651"/>
            </a:xfrm>
            <a:custGeom>
              <a:avLst/>
              <a:gdLst/>
              <a:ahLst/>
              <a:cxnLst/>
              <a:rect l="l" t="t" r="r" b="b"/>
              <a:pathLst>
                <a:path w="2836856" h="402651">
                  <a:moveTo>
                    <a:pt x="0" y="0"/>
                  </a:moveTo>
                  <a:lnTo>
                    <a:pt x="2836856" y="0"/>
                  </a:lnTo>
                  <a:lnTo>
                    <a:pt x="2836856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87280" b="-87281"/>
              </a:stretch>
            </a:blipFill>
          </p:spPr>
        </p:sp>
        <p:sp>
          <p:nvSpPr>
            <p:cNvPr id="89" name="TextBox 89"/>
            <p:cNvSpPr txBox="1"/>
            <p:nvPr/>
          </p:nvSpPr>
          <p:spPr>
            <a:xfrm>
              <a:off x="0" y="0"/>
              <a:ext cx="2836862" cy="4026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41"/>
                </a:lnSpc>
              </a:pPr>
              <a:r>
                <a:rPr lang="en-US" sz="1200" b="1">
                  <a:solidFill>
                    <a:srgbClr val="9FAEC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PV + REGULATORY</a:t>
              </a:r>
            </a:p>
          </p:txBody>
        </p:sp>
      </p:grpSp>
      <p:grpSp>
        <p:nvGrpSpPr>
          <p:cNvPr id="90" name="Group 90"/>
          <p:cNvGrpSpPr/>
          <p:nvPr/>
        </p:nvGrpSpPr>
        <p:grpSpPr>
          <a:xfrm>
            <a:off x="1153049" y="5875039"/>
            <a:ext cx="329441" cy="343167"/>
            <a:chOff x="0" y="0"/>
            <a:chExt cx="439255" cy="457556"/>
          </a:xfrm>
        </p:grpSpPr>
        <p:sp>
          <p:nvSpPr>
            <p:cNvPr id="91" name="Freeform 91"/>
            <p:cNvSpPr/>
            <p:nvPr/>
          </p:nvSpPr>
          <p:spPr>
            <a:xfrm>
              <a:off x="0" y="0"/>
              <a:ext cx="439255" cy="457557"/>
            </a:xfrm>
            <a:custGeom>
              <a:avLst/>
              <a:gdLst/>
              <a:ahLst/>
              <a:cxnLst/>
              <a:rect l="l" t="t" r="r" b="b"/>
              <a:pathLst>
                <a:path w="439255" h="457557">
                  <a:moveTo>
                    <a:pt x="0" y="0"/>
                  </a:moveTo>
                  <a:lnTo>
                    <a:pt x="439255" y="0"/>
                  </a:lnTo>
                  <a:lnTo>
                    <a:pt x="439255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3649" r="-83648"/>
              </a:stretch>
            </a:blipFill>
          </p:spPr>
        </p:sp>
        <p:sp>
          <p:nvSpPr>
            <p:cNvPr id="92" name="TextBox 92"/>
            <p:cNvSpPr txBox="1"/>
            <p:nvPr/>
          </p:nvSpPr>
          <p:spPr>
            <a:xfrm>
              <a:off x="0" y="0"/>
              <a:ext cx="439255" cy="4575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r>
                <a:rPr lang="en-US" sz="1801" b="1">
                  <a:solidFill>
                    <a:srgbClr val="9FAEC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⌂</a:t>
              </a:r>
            </a:p>
          </p:txBody>
        </p:sp>
      </p:grpSp>
      <p:grpSp>
        <p:nvGrpSpPr>
          <p:cNvPr id="93" name="Group 93"/>
          <p:cNvGrpSpPr/>
          <p:nvPr/>
        </p:nvGrpSpPr>
        <p:grpSpPr>
          <a:xfrm>
            <a:off x="1551118" y="5861314"/>
            <a:ext cx="1715843" cy="384353"/>
            <a:chOff x="0" y="0"/>
            <a:chExt cx="2287791" cy="512470"/>
          </a:xfrm>
        </p:grpSpPr>
        <p:sp>
          <p:nvSpPr>
            <p:cNvPr id="94" name="Freeform 94"/>
            <p:cNvSpPr/>
            <p:nvPr/>
          </p:nvSpPr>
          <p:spPr>
            <a:xfrm>
              <a:off x="0" y="0"/>
              <a:ext cx="2287787" cy="512464"/>
            </a:xfrm>
            <a:custGeom>
              <a:avLst/>
              <a:gdLst/>
              <a:ahLst/>
              <a:cxnLst/>
              <a:rect l="l" t="t" r="r" b="b"/>
              <a:pathLst>
                <a:path w="2287787" h="512464">
                  <a:moveTo>
                    <a:pt x="0" y="0"/>
                  </a:moveTo>
                  <a:lnTo>
                    <a:pt x="2287787" y="0"/>
                  </a:lnTo>
                  <a:lnTo>
                    <a:pt x="2287787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6986" b="-36987"/>
              </a:stretch>
            </a:blipFill>
          </p:spPr>
        </p:sp>
        <p:sp>
          <p:nvSpPr>
            <p:cNvPr id="95" name="TextBox 95"/>
            <p:cNvSpPr txBox="1"/>
            <p:nvPr/>
          </p:nvSpPr>
          <p:spPr>
            <a:xfrm>
              <a:off x="0" y="0"/>
              <a:ext cx="2287791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11"/>
                </a:lnSpc>
              </a:pPr>
              <a:r>
                <a:rPr lang="en-US" sz="1426">
                  <a:solidFill>
                    <a:srgbClr val="9FAEC6"/>
                  </a:solidFill>
                  <a:latin typeface="Aptos"/>
                  <a:ea typeface="Aptos"/>
                  <a:cs typeface="Aptos"/>
                  <a:sym typeface="Aptos"/>
                </a:rPr>
                <a:t>Executive Dashboard</a:t>
              </a:r>
            </a:p>
          </p:txBody>
        </p:sp>
      </p:grpSp>
      <p:grpSp>
        <p:nvGrpSpPr>
          <p:cNvPr id="96" name="Group 96"/>
          <p:cNvGrpSpPr/>
          <p:nvPr/>
        </p:nvGrpSpPr>
        <p:grpSpPr>
          <a:xfrm>
            <a:off x="981170" y="6471866"/>
            <a:ext cx="2512562" cy="549640"/>
            <a:chOff x="0" y="0"/>
            <a:chExt cx="3350082" cy="732854"/>
          </a:xfrm>
        </p:grpSpPr>
        <p:sp>
          <p:nvSpPr>
            <p:cNvPr id="97" name="Freeform 97"/>
            <p:cNvSpPr/>
            <p:nvPr/>
          </p:nvSpPr>
          <p:spPr>
            <a:xfrm>
              <a:off x="0" y="0"/>
              <a:ext cx="3350006" cy="732790"/>
            </a:xfrm>
            <a:custGeom>
              <a:avLst/>
              <a:gdLst/>
              <a:ahLst/>
              <a:cxnLst/>
              <a:rect l="l" t="t" r="r" b="b"/>
              <a:pathLst>
                <a:path w="3350006" h="732790">
                  <a:moveTo>
                    <a:pt x="0" y="87884"/>
                  </a:moveTo>
                  <a:cubicBezTo>
                    <a:pt x="0" y="39370"/>
                    <a:pt x="39370" y="0"/>
                    <a:pt x="87884" y="0"/>
                  </a:cubicBezTo>
                  <a:lnTo>
                    <a:pt x="3262122" y="0"/>
                  </a:lnTo>
                  <a:cubicBezTo>
                    <a:pt x="3310636" y="0"/>
                    <a:pt x="3350006" y="39370"/>
                    <a:pt x="3350006" y="87884"/>
                  </a:cubicBezTo>
                  <a:lnTo>
                    <a:pt x="3350006" y="644906"/>
                  </a:lnTo>
                  <a:cubicBezTo>
                    <a:pt x="3350006" y="693420"/>
                    <a:pt x="3310636" y="732790"/>
                    <a:pt x="3262122" y="732790"/>
                  </a:cubicBezTo>
                  <a:lnTo>
                    <a:pt x="87884" y="732790"/>
                  </a:lnTo>
                  <a:cubicBezTo>
                    <a:pt x="39370" y="732917"/>
                    <a:pt x="0" y="693420"/>
                    <a:pt x="0" y="644906"/>
                  </a:cubicBezTo>
                  <a:close/>
                </a:path>
              </a:pathLst>
            </a:custGeom>
            <a:solidFill>
              <a:srgbClr val="080F1E"/>
            </a:solidFill>
            <a:ln w="14299" cap="sq">
              <a:solidFill>
                <a:srgbClr val="080F1E"/>
              </a:solidFill>
              <a:prstDash val="solid"/>
              <a:miter/>
            </a:ln>
          </p:spPr>
        </p:sp>
      </p:grpSp>
      <p:grpSp>
        <p:nvGrpSpPr>
          <p:cNvPr id="98" name="Group 98"/>
          <p:cNvGrpSpPr/>
          <p:nvPr/>
        </p:nvGrpSpPr>
        <p:grpSpPr>
          <a:xfrm>
            <a:off x="1153049" y="6533921"/>
            <a:ext cx="329441" cy="343167"/>
            <a:chOff x="0" y="0"/>
            <a:chExt cx="439255" cy="457556"/>
          </a:xfrm>
        </p:grpSpPr>
        <p:sp>
          <p:nvSpPr>
            <p:cNvPr id="99" name="Freeform 99"/>
            <p:cNvSpPr/>
            <p:nvPr/>
          </p:nvSpPr>
          <p:spPr>
            <a:xfrm>
              <a:off x="0" y="0"/>
              <a:ext cx="439255" cy="457557"/>
            </a:xfrm>
            <a:custGeom>
              <a:avLst/>
              <a:gdLst/>
              <a:ahLst/>
              <a:cxnLst/>
              <a:rect l="l" t="t" r="r" b="b"/>
              <a:pathLst>
                <a:path w="439255" h="457557">
                  <a:moveTo>
                    <a:pt x="0" y="0"/>
                  </a:moveTo>
                  <a:lnTo>
                    <a:pt x="439255" y="0"/>
                  </a:lnTo>
                  <a:lnTo>
                    <a:pt x="439255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3649" r="-83648"/>
              </a:stretch>
            </a:blipFill>
          </p:spPr>
        </p:sp>
        <p:sp>
          <p:nvSpPr>
            <p:cNvPr id="100" name="TextBox 100"/>
            <p:cNvSpPr txBox="1"/>
            <p:nvPr/>
          </p:nvSpPr>
          <p:spPr>
            <a:xfrm>
              <a:off x="0" y="-38100"/>
              <a:ext cx="439255" cy="4956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r>
                <a:rPr lang="en-US" sz="1801" b="1">
                  <a:solidFill>
                    <a:srgbClr val="39D3BE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◉</a:t>
              </a:r>
            </a:p>
          </p:txBody>
        </p:sp>
      </p:grpSp>
      <p:grpSp>
        <p:nvGrpSpPr>
          <p:cNvPr id="101" name="Group 101"/>
          <p:cNvGrpSpPr/>
          <p:nvPr/>
        </p:nvGrpSpPr>
        <p:grpSpPr>
          <a:xfrm>
            <a:off x="1551118" y="6520196"/>
            <a:ext cx="1715843" cy="384353"/>
            <a:chOff x="0" y="0"/>
            <a:chExt cx="2287791" cy="512470"/>
          </a:xfrm>
        </p:grpSpPr>
        <p:sp>
          <p:nvSpPr>
            <p:cNvPr id="102" name="Freeform 102"/>
            <p:cNvSpPr/>
            <p:nvPr/>
          </p:nvSpPr>
          <p:spPr>
            <a:xfrm>
              <a:off x="0" y="0"/>
              <a:ext cx="2287787" cy="512464"/>
            </a:xfrm>
            <a:custGeom>
              <a:avLst/>
              <a:gdLst/>
              <a:ahLst/>
              <a:cxnLst/>
              <a:rect l="l" t="t" r="r" b="b"/>
              <a:pathLst>
                <a:path w="2287787" h="512464">
                  <a:moveTo>
                    <a:pt x="0" y="0"/>
                  </a:moveTo>
                  <a:lnTo>
                    <a:pt x="2287787" y="0"/>
                  </a:lnTo>
                  <a:lnTo>
                    <a:pt x="2287787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6986" b="-36987"/>
              </a:stretch>
            </a:blipFill>
          </p:spPr>
        </p:sp>
        <p:sp>
          <p:nvSpPr>
            <p:cNvPr id="103" name="TextBox 103"/>
            <p:cNvSpPr txBox="1"/>
            <p:nvPr/>
          </p:nvSpPr>
          <p:spPr>
            <a:xfrm>
              <a:off x="0" y="0"/>
              <a:ext cx="2287791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11"/>
                </a:lnSpc>
              </a:pPr>
              <a:r>
                <a:rPr lang="en-US" sz="1426" b="1">
                  <a:solidFill>
                    <a:srgbClr val="F2F6F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Safety Intelligence</a:t>
              </a:r>
            </a:p>
          </p:txBody>
        </p:sp>
      </p:grpSp>
      <p:grpSp>
        <p:nvGrpSpPr>
          <p:cNvPr id="104" name="Group 104"/>
          <p:cNvGrpSpPr/>
          <p:nvPr/>
        </p:nvGrpSpPr>
        <p:grpSpPr>
          <a:xfrm>
            <a:off x="1153049" y="7192804"/>
            <a:ext cx="329441" cy="343167"/>
            <a:chOff x="0" y="0"/>
            <a:chExt cx="439255" cy="457556"/>
          </a:xfrm>
        </p:grpSpPr>
        <p:sp>
          <p:nvSpPr>
            <p:cNvPr id="105" name="Freeform 105"/>
            <p:cNvSpPr/>
            <p:nvPr/>
          </p:nvSpPr>
          <p:spPr>
            <a:xfrm>
              <a:off x="0" y="0"/>
              <a:ext cx="439255" cy="457557"/>
            </a:xfrm>
            <a:custGeom>
              <a:avLst/>
              <a:gdLst/>
              <a:ahLst/>
              <a:cxnLst/>
              <a:rect l="l" t="t" r="r" b="b"/>
              <a:pathLst>
                <a:path w="439255" h="457557">
                  <a:moveTo>
                    <a:pt x="0" y="0"/>
                  </a:moveTo>
                  <a:lnTo>
                    <a:pt x="439255" y="0"/>
                  </a:lnTo>
                  <a:lnTo>
                    <a:pt x="439255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3649" r="-83648"/>
              </a:stretch>
            </a:blipFill>
          </p:spPr>
        </p:sp>
        <p:sp>
          <p:nvSpPr>
            <p:cNvPr id="106" name="TextBox 106"/>
            <p:cNvSpPr txBox="1"/>
            <p:nvPr/>
          </p:nvSpPr>
          <p:spPr>
            <a:xfrm>
              <a:off x="0" y="0"/>
              <a:ext cx="439255" cy="4575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r>
                <a:rPr lang="en-US" sz="1801" b="1">
                  <a:solidFill>
                    <a:srgbClr val="9FAEC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↗</a:t>
              </a:r>
            </a:p>
          </p:txBody>
        </p:sp>
      </p:grpSp>
      <p:grpSp>
        <p:nvGrpSpPr>
          <p:cNvPr id="107" name="Group 107"/>
          <p:cNvGrpSpPr/>
          <p:nvPr/>
        </p:nvGrpSpPr>
        <p:grpSpPr>
          <a:xfrm>
            <a:off x="1551118" y="7179078"/>
            <a:ext cx="1715843" cy="384353"/>
            <a:chOff x="0" y="0"/>
            <a:chExt cx="2287791" cy="512470"/>
          </a:xfrm>
        </p:grpSpPr>
        <p:sp>
          <p:nvSpPr>
            <p:cNvPr id="108" name="Freeform 108"/>
            <p:cNvSpPr/>
            <p:nvPr/>
          </p:nvSpPr>
          <p:spPr>
            <a:xfrm>
              <a:off x="0" y="0"/>
              <a:ext cx="2287787" cy="512464"/>
            </a:xfrm>
            <a:custGeom>
              <a:avLst/>
              <a:gdLst/>
              <a:ahLst/>
              <a:cxnLst/>
              <a:rect l="l" t="t" r="r" b="b"/>
              <a:pathLst>
                <a:path w="2287787" h="512464">
                  <a:moveTo>
                    <a:pt x="0" y="0"/>
                  </a:moveTo>
                  <a:lnTo>
                    <a:pt x="2287787" y="0"/>
                  </a:lnTo>
                  <a:lnTo>
                    <a:pt x="2287787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6986" b="-36987"/>
              </a:stretch>
            </a:blipFill>
          </p:spPr>
        </p:sp>
        <p:sp>
          <p:nvSpPr>
            <p:cNvPr id="109" name="TextBox 109"/>
            <p:cNvSpPr txBox="1"/>
            <p:nvPr/>
          </p:nvSpPr>
          <p:spPr>
            <a:xfrm>
              <a:off x="0" y="0"/>
              <a:ext cx="2287791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11"/>
                </a:lnSpc>
              </a:pPr>
              <a:r>
                <a:rPr lang="en-US" sz="1426">
                  <a:solidFill>
                    <a:srgbClr val="9FAEC6"/>
                  </a:solidFill>
                  <a:latin typeface="Aptos"/>
                  <a:ea typeface="Aptos"/>
                  <a:cs typeface="Aptos"/>
                  <a:sym typeface="Aptos"/>
                </a:rPr>
                <a:t>Signal Trends</a:t>
              </a:r>
            </a:p>
          </p:txBody>
        </p:sp>
      </p:grpSp>
      <p:grpSp>
        <p:nvGrpSpPr>
          <p:cNvPr id="110" name="Group 110"/>
          <p:cNvGrpSpPr/>
          <p:nvPr/>
        </p:nvGrpSpPr>
        <p:grpSpPr>
          <a:xfrm>
            <a:off x="1153049" y="7851686"/>
            <a:ext cx="329441" cy="343167"/>
            <a:chOff x="0" y="0"/>
            <a:chExt cx="439255" cy="457556"/>
          </a:xfrm>
        </p:grpSpPr>
        <p:sp>
          <p:nvSpPr>
            <p:cNvPr id="111" name="Freeform 111"/>
            <p:cNvSpPr/>
            <p:nvPr/>
          </p:nvSpPr>
          <p:spPr>
            <a:xfrm>
              <a:off x="0" y="0"/>
              <a:ext cx="439255" cy="457557"/>
            </a:xfrm>
            <a:custGeom>
              <a:avLst/>
              <a:gdLst/>
              <a:ahLst/>
              <a:cxnLst/>
              <a:rect l="l" t="t" r="r" b="b"/>
              <a:pathLst>
                <a:path w="439255" h="457557">
                  <a:moveTo>
                    <a:pt x="0" y="0"/>
                  </a:moveTo>
                  <a:lnTo>
                    <a:pt x="439255" y="0"/>
                  </a:lnTo>
                  <a:lnTo>
                    <a:pt x="439255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3649" r="-83648"/>
              </a:stretch>
            </a:blipFill>
          </p:spPr>
        </p:sp>
        <p:sp>
          <p:nvSpPr>
            <p:cNvPr id="112" name="TextBox 112"/>
            <p:cNvSpPr txBox="1"/>
            <p:nvPr/>
          </p:nvSpPr>
          <p:spPr>
            <a:xfrm>
              <a:off x="0" y="-38100"/>
              <a:ext cx="439255" cy="4956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r>
                <a:rPr lang="en-US" sz="1801" b="1">
                  <a:solidFill>
                    <a:srgbClr val="9FAEC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◌</a:t>
              </a:r>
            </a:p>
          </p:txBody>
        </p:sp>
      </p:grpSp>
      <p:grpSp>
        <p:nvGrpSpPr>
          <p:cNvPr id="113" name="Group 113"/>
          <p:cNvGrpSpPr/>
          <p:nvPr/>
        </p:nvGrpSpPr>
        <p:grpSpPr>
          <a:xfrm>
            <a:off x="1551118" y="7837961"/>
            <a:ext cx="1715843" cy="384353"/>
            <a:chOff x="0" y="0"/>
            <a:chExt cx="2287791" cy="512470"/>
          </a:xfrm>
        </p:grpSpPr>
        <p:sp>
          <p:nvSpPr>
            <p:cNvPr id="114" name="Freeform 114"/>
            <p:cNvSpPr/>
            <p:nvPr/>
          </p:nvSpPr>
          <p:spPr>
            <a:xfrm>
              <a:off x="0" y="0"/>
              <a:ext cx="2287787" cy="512464"/>
            </a:xfrm>
            <a:custGeom>
              <a:avLst/>
              <a:gdLst/>
              <a:ahLst/>
              <a:cxnLst/>
              <a:rect l="l" t="t" r="r" b="b"/>
              <a:pathLst>
                <a:path w="2287787" h="512464">
                  <a:moveTo>
                    <a:pt x="0" y="0"/>
                  </a:moveTo>
                  <a:lnTo>
                    <a:pt x="2287787" y="0"/>
                  </a:lnTo>
                  <a:lnTo>
                    <a:pt x="2287787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6986" b="-36987"/>
              </a:stretch>
            </a:blipFill>
          </p:spPr>
        </p:sp>
        <p:sp>
          <p:nvSpPr>
            <p:cNvPr id="115" name="TextBox 115"/>
            <p:cNvSpPr txBox="1"/>
            <p:nvPr/>
          </p:nvSpPr>
          <p:spPr>
            <a:xfrm>
              <a:off x="0" y="0"/>
              <a:ext cx="2287791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11"/>
                </a:lnSpc>
              </a:pPr>
              <a:r>
                <a:rPr lang="en-US" sz="1426">
                  <a:solidFill>
                    <a:srgbClr val="9FAEC6"/>
                  </a:solidFill>
                  <a:latin typeface="Aptos"/>
                  <a:ea typeface="Aptos"/>
                  <a:cs typeface="Aptos"/>
                  <a:sym typeface="Aptos"/>
                </a:rPr>
                <a:t>Event Clustering</a:t>
              </a:r>
            </a:p>
          </p:txBody>
        </p:sp>
      </p:grpSp>
      <p:grpSp>
        <p:nvGrpSpPr>
          <p:cNvPr id="116" name="Group 116"/>
          <p:cNvGrpSpPr/>
          <p:nvPr/>
        </p:nvGrpSpPr>
        <p:grpSpPr>
          <a:xfrm>
            <a:off x="1153049" y="8510568"/>
            <a:ext cx="329441" cy="343167"/>
            <a:chOff x="0" y="0"/>
            <a:chExt cx="439255" cy="457556"/>
          </a:xfrm>
        </p:grpSpPr>
        <p:sp>
          <p:nvSpPr>
            <p:cNvPr id="117" name="Freeform 117"/>
            <p:cNvSpPr/>
            <p:nvPr/>
          </p:nvSpPr>
          <p:spPr>
            <a:xfrm>
              <a:off x="0" y="0"/>
              <a:ext cx="439255" cy="457557"/>
            </a:xfrm>
            <a:custGeom>
              <a:avLst/>
              <a:gdLst/>
              <a:ahLst/>
              <a:cxnLst/>
              <a:rect l="l" t="t" r="r" b="b"/>
              <a:pathLst>
                <a:path w="439255" h="457557">
                  <a:moveTo>
                    <a:pt x="0" y="0"/>
                  </a:moveTo>
                  <a:lnTo>
                    <a:pt x="439255" y="0"/>
                  </a:lnTo>
                  <a:lnTo>
                    <a:pt x="439255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3649" r="-83648"/>
              </a:stretch>
            </a:blipFill>
          </p:spPr>
        </p:sp>
        <p:sp>
          <p:nvSpPr>
            <p:cNvPr id="118" name="TextBox 118"/>
            <p:cNvSpPr txBox="1"/>
            <p:nvPr/>
          </p:nvSpPr>
          <p:spPr>
            <a:xfrm>
              <a:off x="0" y="-38100"/>
              <a:ext cx="439255" cy="4956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161"/>
                </a:lnSpc>
              </a:pPr>
              <a:r>
                <a:rPr lang="en-US" sz="1801" b="1">
                  <a:solidFill>
                    <a:srgbClr val="9FAEC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▣</a:t>
              </a:r>
            </a:p>
          </p:txBody>
        </p:sp>
      </p:grpSp>
      <p:grpSp>
        <p:nvGrpSpPr>
          <p:cNvPr id="119" name="Group 119"/>
          <p:cNvGrpSpPr/>
          <p:nvPr/>
        </p:nvGrpSpPr>
        <p:grpSpPr>
          <a:xfrm>
            <a:off x="1551118" y="8496843"/>
            <a:ext cx="1715843" cy="384353"/>
            <a:chOff x="0" y="0"/>
            <a:chExt cx="2287791" cy="512470"/>
          </a:xfrm>
        </p:grpSpPr>
        <p:sp>
          <p:nvSpPr>
            <p:cNvPr id="120" name="Freeform 120"/>
            <p:cNvSpPr/>
            <p:nvPr/>
          </p:nvSpPr>
          <p:spPr>
            <a:xfrm>
              <a:off x="0" y="0"/>
              <a:ext cx="2287787" cy="512464"/>
            </a:xfrm>
            <a:custGeom>
              <a:avLst/>
              <a:gdLst/>
              <a:ahLst/>
              <a:cxnLst/>
              <a:rect l="l" t="t" r="r" b="b"/>
              <a:pathLst>
                <a:path w="2287787" h="512464">
                  <a:moveTo>
                    <a:pt x="0" y="0"/>
                  </a:moveTo>
                  <a:lnTo>
                    <a:pt x="2287787" y="0"/>
                  </a:lnTo>
                  <a:lnTo>
                    <a:pt x="2287787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6986" b="-36987"/>
              </a:stretch>
            </a:blipFill>
          </p:spPr>
        </p:sp>
        <p:sp>
          <p:nvSpPr>
            <p:cNvPr id="121" name="TextBox 121"/>
            <p:cNvSpPr txBox="1"/>
            <p:nvPr/>
          </p:nvSpPr>
          <p:spPr>
            <a:xfrm>
              <a:off x="0" y="0"/>
              <a:ext cx="2287791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11"/>
                </a:lnSpc>
              </a:pPr>
              <a:r>
                <a:rPr lang="en-US" sz="1426">
                  <a:solidFill>
                    <a:srgbClr val="9FAEC6"/>
                  </a:solidFill>
                  <a:latin typeface="Aptos"/>
                  <a:ea typeface="Aptos"/>
                  <a:cs typeface="Aptos"/>
                  <a:sym typeface="Aptos"/>
                </a:rPr>
                <a:t>CTD Readiness</a:t>
              </a:r>
            </a:p>
          </p:txBody>
        </p:sp>
      </p:grpSp>
      <p:grpSp>
        <p:nvGrpSpPr>
          <p:cNvPr id="122" name="Group 122"/>
          <p:cNvGrpSpPr/>
          <p:nvPr/>
        </p:nvGrpSpPr>
        <p:grpSpPr>
          <a:xfrm>
            <a:off x="4090568" y="4831804"/>
            <a:ext cx="4118019" cy="549069"/>
            <a:chOff x="0" y="0"/>
            <a:chExt cx="5490693" cy="732092"/>
          </a:xfrm>
        </p:grpSpPr>
        <p:sp>
          <p:nvSpPr>
            <p:cNvPr id="123" name="Freeform 123"/>
            <p:cNvSpPr/>
            <p:nvPr/>
          </p:nvSpPr>
          <p:spPr>
            <a:xfrm>
              <a:off x="0" y="0"/>
              <a:ext cx="5490690" cy="732092"/>
            </a:xfrm>
            <a:custGeom>
              <a:avLst/>
              <a:gdLst/>
              <a:ahLst/>
              <a:cxnLst/>
              <a:rect l="l" t="t" r="r" b="b"/>
              <a:pathLst>
                <a:path w="5490690" h="732092">
                  <a:moveTo>
                    <a:pt x="0" y="0"/>
                  </a:moveTo>
                  <a:lnTo>
                    <a:pt x="5490690" y="0"/>
                  </a:lnTo>
                  <a:lnTo>
                    <a:pt x="5490690" y="732092"/>
                  </a:lnTo>
                  <a:lnTo>
                    <a:pt x="0" y="732092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6137" b="-96137"/>
              </a:stretch>
            </a:blipFill>
          </p:spPr>
        </p:sp>
        <p:sp>
          <p:nvSpPr>
            <p:cNvPr id="124" name="TextBox 124"/>
            <p:cNvSpPr txBox="1"/>
            <p:nvPr/>
          </p:nvSpPr>
          <p:spPr>
            <a:xfrm>
              <a:off x="0" y="0"/>
              <a:ext cx="5490693" cy="732092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3602"/>
                </a:lnSpc>
              </a:pPr>
              <a:r>
                <a:rPr lang="en-US" sz="3002" b="1">
                  <a:solidFill>
                    <a:srgbClr val="F2F6F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Safety Intelligence</a:t>
              </a:r>
            </a:p>
          </p:txBody>
        </p:sp>
      </p:grpSp>
      <p:grpSp>
        <p:nvGrpSpPr>
          <p:cNvPr id="125" name="Group 125"/>
          <p:cNvGrpSpPr/>
          <p:nvPr/>
        </p:nvGrpSpPr>
        <p:grpSpPr>
          <a:xfrm>
            <a:off x="4104294" y="5463235"/>
            <a:ext cx="1647206" cy="343167"/>
            <a:chOff x="0" y="0"/>
            <a:chExt cx="2196274" cy="457556"/>
          </a:xfrm>
        </p:grpSpPr>
        <p:sp>
          <p:nvSpPr>
            <p:cNvPr id="126" name="Freeform 126"/>
            <p:cNvSpPr/>
            <p:nvPr/>
          </p:nvSpPr>
          <p:spPr>
            <a:xfrm>
              <a:off x="0" y="0"/>
              <a:ext cx="2196276" cy="457557"/>
            </a:xfrm>
            <a:custGeom>
              <a:avLst/>
              <a:gdLst/>
              <a:ahLst/>
              <a:cxnLst/>
              <a:rect l="l" t="t" r="r" b="b"/>
              <a:pathLst>
                <a:path w="2196276" h="457557">
                  <a:moveTo>
                    <a:pt x="0" y="0"/>
                  </a:moveTo>
                  <a:lnTo>
                    <a:pt x="2196276" y="0"/>
                  </a:lnTo>
                  <a:lnTo>
                    <a:pt x="2196276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3528" b="-43527"/>
              </a:stretch>
            </a:blipFill>
          </p:spPr>
        </p:sp>
        <p:sp>
          <p:nvSpPr>
            <p:cNvPr id="127" name="TextBox 127"/>
            <p:cNvSpPr txBox="1"/>
            <p:nvPr/>
          </p:nvSpPr>
          <p:spPr>
            <a:xfrm>
              <a:off x="0" y="-9525"/>
              <a:ext cx="2196274" cy="4670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1"/>
                </a:lnSpc>
              </a:pPr>
              <a:r>
                <a:rPr lang="en-US" sz="1351" b="1">
                  <a:solidFill>
                    <a:srgbClr val="9FAEC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Target product</a:t>
              </a:r>
            </a:p>
          </p:txBody>
        </p:sp>
      </p:grpSp>
      <p:grpSp>
        <p:nvGrpSpPr>
          <p:cNvPr id="128" name="Group 128"/>
          <p:cNvGrpSpPr/>
          <p:nvPr/>
        </p:nvGrpSpPr>
        <p:grpSpPr>
          <a:xfrm>
            <a:off x="5593356" y="5360003"/>
            <a:ext cx="2141944" cy="590817"/>
            <a:chOff x="0" y="0"/>
            <a:chExt cx="2855925" cy="787756"/>
          </a:xfrm>
        </p:grpSpPr>
        <p:sp>
          <p:nvSpPr>
            <p:cNvPr id="129" name="Freeform 129"/>
            <p:cNvSpPr/>
            <p:nvPr/>
          </p:nvSpPr>
          <p:spPr>
            <a:xfrm>
              <a:off x="0" y="0"/>
              <a:ext cx="2855849" cy="787781"/>
            </a:xfrm>
            <a:custGeom>
              <a:avLst/>
              <a:gdLst/>
              <a:ahLst/>
              <a:cxnLst/>
              <a:rect l="l" t="t" r="r" b="b"/>
              <a:pathLst>
                <a:path w="2855849" h="787781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lnTo>
                    <a:pt x="2761361" y="0"/>
                  </a:lnTo>
                  <a:cubicBezTo>
                    <a:pt x="2813558" y="0"/>
                    <a:pt x="2855849" y="42291"/>
                    <a:pt x="2855849" y="94488"/>
                  </a:cubicBezTo>
                  <a:lnTo>
                    <a:pt x="2855849" y="693293"/>
                  </a:lnTo>
                  <a:cubicBezTo>
                    <a:pt x="2855849" y="745490"/>
                    <a:pt x="2813558" y="787781"/>
                    <a:pt x="2761361" y="787781"/>
                  </a:cubicBezTo>
                  <a:lnTo>
                    <a:pt x="94488" y="787781"/>
                  </a:lnTo>
                  <a:cubicBezTo>
                    <a:pt x="42291" y="787781"/>
                    <a:pt x="0" y="745490"/>
                    <a:pt x="0" y="693293"/>
                  </a:cubicBezTo>
                  <a:close/>
                </a:path>
              </a:pathLst>
            </a:custGeom>
            <a:solidFill>
              <a:srgbClr val="080F1E"/>
            </a:solidFill>
            <a:ln w="14299" cap="sq">
              <a:solidFill>
                <a:srgbClr val="080F1E"/>
              </a:solidFill>
              <a:prstDash val="solid"/>
              <a:miter/>
            </a:ln>
          </p:spPr>
        </p:sp>
      </p:grpSp>
      <p:grpSp>
        <p:nvGrpSpPr>
          <p:cNvPr id="130" name="Group 130"/>
          <p:cNvGrpSpPr/>
          <p:nvPr/>
        </p:nvGrpSpPr>
        <p:grpSpPr>
          <a:xfrm>
            <a:off x="5806402" y="5408333"/>
            <a:ext cx="1715843" cy="452980"/>
            <a:chOff x="0" y="0"/>
            <a:chExt cx="2287791" cy="603974"/>
          </a:xfrm>
        </p:grpSpPr>
        <p:sp>
          <p:nvSpPr>
            <p:cNvPr id="131" name="Freeform 131"/>
            <p:cNvSpPr/>
            <p:nvPr/>
          </p:nvSpPr>
          <p:spPr>
            <a:xfrm>
              <a:off x="0" y="0"/>
              <a:ext cx="2287787" cy="603976"/>
            </a:xfrm>
            <a:custGeom>
              <a:avLst/>
              <a:gdLst/>
              <a:ahLst/>
              <a:cxnLst/>
              <a:rect l="l" t="t" r="r" b="b"/>
              <a:pathLst>
                <a:path w="2287787" h="603976">
                  <a:moveTo>
                    <a:pt x="0" y="0"/>
                  </a:moveTo>
                  <a:lnTo>
                    <a:pt x="2287787" y="0"/>
                  </a:lnTo>
                  <a:lnTo>
                    <a:pt x="2287787" y="603976"/>
                  </a:lnTo>
                  <a:lnTo>
                    <a:pt x="0" y="60397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3807" b="-23806"/>
              </a:stretch>
            </a:blipFill>
          </p:spPr>
        </p:sp>
        <p:sp>
          <p:nvSpPr>
            <p:cNvPr id="132" name="TextBox 132"/>
            <p:cNvSpPr txBox="1"/>
            <p:nvPr/>
          </p:nvSpPr>
          <p:spPr>
            <a:xfrm>
              <a:off x="0" y="0"/>
              <a:ext cx="2287791" cy="60397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1"/>
                </a:lnSpc>
              </a:pPr>
              <a:r>
                <a:rPr lang="en-US" sz="1651" b="1">
                  <a:solidFill>
                    <a:srgbClr val="39D3B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CARDIOLEX  ▾</a:t>
              </a:r>
            </a:p>
          </p:txBody>
        </p:sp>
      </p:grpSp>
      <p:grpSp>
        <p:nvGrpSpPr>
          <p:cNvPr id="133" name="Group 133"/>
          <p:cNvGrpSpPr/>
          <p:nvPr/>
        </p:nvGrpSpPr>
        <p:grpSpPr>
          <a:xfrm>
            <a:off x="8228886" y="5291366"/>
            <a:ext cx="1977219" cy="1139885"/>
            <a:chOff x="0" y="0"/>
            <a:chExt cx="2636291" cy="1519847"/>
          </a:xfrm>
        </p:grpSpPr>
        <p:sp>
          <p:nvSpPr>
            <p:cNvPr id="134" name="Freeform 134"/>
            <p:cNvSpPr/>
            <p:nvPr/>
          </p:nvSpPr>
          <p:spPr>
            <a:xfrm>
              <a:off x="0" y="0"/>
              <a:ext cx="2636266" cy="1519809"/>
            </a:xfrm>
            <a:custGeom>
              <a:avLst/>
              <a:gdLst/>
              <a:ahLst/>
              <a:cxnLst/>
              <a:rect l="l" t="t" r="r" b="b"/>
              <a:pathLst>
                <a:path w="2636266" h="1519809">
                  <a:moveTo>
                    <a:pt x="0" y="182372"/>
                  </a:moveTo>
                  <a:cubicBezTo>
                    <a:pt x="0" y="81661"/>
                    <a:pt x="81661" y="0"/>
                    <a:pt x="182372" y="0"/>
                  </a:cubicBezTo>
                  <a:lnTo>
                    <a:pt x="2453894" y="0"/>
                  </a:lnTo>
                  <a:cubicBezTo>
                    <a:pt x="2554605" y="0"/>
                    <a:pt x="2636266" y="81661"/>
                    <a:pt x="2636266" y="182372"/>
                  </a:cubicBezTo>
                  <a:lnTo>
                    <a:pt x="2636266" y="1337437"/>
                  </a:lnTo>
                  <a:cubicBezTo>
                    <a:pt x="2636266" y="1438148"/>
                    <a:pt x="2554605" y="1519809"/>
                    <a:pt x="2453894" y="1519809"/>
                  </a:cubicBezTo>
                  <a:lnTo>
                    <a:pt x="182372" y="1519809"/>
                  </a:lnTo>
                  <a:cubicBezTo>
                    <a:pt x="81661" y="1519809"/>
                    <a:pt x="0" y="1438148"/>
                    <a:pt x="0" y="1337437"/>
                  </a:cubicBezTo>
                  <a:close/>
                </a:path>
              </a:pathLst>
            </a:custGeom>
            <a:solidFill>
              <a:srgbClr val="080F1E"/>
            </a:solidFill>
            <a:ln w="14299" cap="sq">
              <a:solidFill>
                <a:srgbClr val="080F1E"/>
              </a:solidFill>
              <a:prstDash val="solid"/>
              <a:miter/>
            </a:ln>
          </p:spPr>
        </p:sp>
      </p:grpSp>
      <p:grpSp>
        <p:nvGrpSpPr>
          <p:cNvPr id="135" name="Group 135"/>
          <p:cNvGrpSpPr/>
          <p:nvPr/>
        </p:nvGrpSpPr>
        <p:grpSpPr>
          <a:xfrm>
            <a:off x="8414480" y="5435784"/>
            <a:ext cx="1372676" cy="274539"/>
            <a:chOff x="0" y="0"/>
            <a:chExt cx="1830235" cy="366052"/>
          </a:xfrm>
        </p:grpSpPr>
        <p:sp>
          <p:nvSpPr>
            <p:cNvPr id="136" name="Freeform 136"/>
            <p:cNvSpPr/>
            <p:nvPr/>
          </p:nvSpPr>
          <p:spPr>
            <a:xfrm>
              <a:off x="0" y="0"/>
              <a:ext cx="1830230" cy="366046"/>
            </a:xfrm>
            <a:custGeom>
              <a:avLst/>
              <a:gdLst/>
              <a:ahLst/>
              <a:cxnLst/>
              <a:rect l="l" t="t" r="r" b="b"/>
              <a:pathLst>
                <a:path w="1830230" h="366046">
                  <a:moveTo>
                    <a:pt x="0" y="0"/>
                  </a:moveTo>
                  <a:lnTo>
                    <a:pt x="1830230" y="0"/>
                  </a:lnTo>
                  <a:lnTo>
                    <a:pt x="1830230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7424" b="-47426"/>
              </a:stretch>
            </a:blipFill>
          </p:spPr>
        </p:sp>
        <p:sp>
          <p:nvSpPr>
            <p:cNvPr id="137" name="TextBox 137"/>
            <p:cNvSpPr txBox="1"/>
            <p:nvPr/>
          </p:nvSpPr>
          <p:spPr>
            <a:xfrm>
              <a:off x="0" y="-9525"/>
              <a:ext cx="1830235" cy="3755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1"/>
                </a:lnSpc>
              </a:pPr>
              <a:r>
                <a:rPr lang="en-US" sz="1275" b="1">
                  <a:solidFill>
                    <a:srgbClr val="9FAEC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PRR</a:t>
              </a:r>
            </a:p>
          </p:txBody>
        </p:sp>
      </p:grpSp>
      <p:grpSp>
        <p:nvGrpSpPr>
          <p:cNvPr id="138" name="Group 138"/>
          <p:cNvGrpSpPr/>
          <p:nvPr/>
        </p:nvGrpSpPr>
        <p:grpSpPr>
          <a:xfrm>
            <a:off x="8414480" y="5724039"/>
            <a:ext cx="1578569" cy="411804"/>
            <a:chOff x="0" y="0"/>
            <a:chExt cx="2104758" cy="549072"/>
          </a:xfrm>
        </p:grpSpPr>
        <p:sp>
          <p:nvSpPr>
            <p:cNvPr id="139" name="Freeform 139"/>
            <p:cNvSpPr/>
            <p:nvPr/>
          </p:nvSpPr>
          <p:spPr>
            <a:xfrm>
              <a:off x="0" y="0"/>
              <a:ext cx="2104764" cy="549069"/>
            </a:xfrm>
            <a:custGeom>
              <a:avLst/>
              <a:gdLst/>
              <a:ahLst/>
              <a:cxnLst/>
              <a:rect l="l" t="t" r="r" b="b"/>
              <a:pathLst>
                <a:path w="2104764" h="549069">
                  <a:moveTo>
                    <a:pt x="0" y="0"/>
                  </a:moveTo>
                  <a:lnTo>
                    <a:pt x="2104764" y="0"/>
                  </a:lnTo>
                  <a:lnTo>
                    <a:pt x="2104764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692" b="-24692"/>
              </a:stretch>
            </a:blipFill>
          </p:spPr>
        </p:sp>
        <p:sp>
          <p:nvSpPr>
            <p:cNvPr id="140" name="TextBox 140"/>
            <p:cNvSpPr txBox="1"/>
            <p:nvPr/>
          </p:nvSpPr>
          <p:spPr>
            <a:xfrm>
              <a:off x="0" y="-9525"/>
              <a:ext cx="2104758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1"/>
                </a:lnSpc>
              </a:pPr>
              <a:r>
                <a:rPr lang="en-US" sz="2101" b="1">
                  <a:solidFill>
                    <a:srgbClr val="FF5B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4.82</a:t>
              </a:r>
            </a:p>
          </p:txBody>
        </p:sp>
      </p:grpSp>
      <p:grpSp>
        <p:nvGrpSpPr>
          <p:cNvPr id="141" name="Group 141"/>
          <p:cNvGrpSpPr/>
          <p:nvPr/>
        </p:nvGrpSpPr>
        <p:grpSpPr>
          <a:xfrm>
            <a:off x="10425160" y="5291366"/>
            <a:ext cx="1977219" cy="1139885"/>
            <a:chOff x="0" y="0"/>
            <a:chExt cx="2636291" cy="1519847"/>
          </a:xfrm>
        </p:grpSpPr>
        <p:sp>
          <p:nvSpPr>
            <p:cNvPr id="142" name="Freeform 142"/>
            <p:cNvSpPr/>
            <p:nvPr/>
          </p:nvSpPr>
          <p:spPr>
            <a:xfrm>
              <a:off x="0" y="0"/>
              <a:ext cx="2636266" cy="1519809"/>
            </a:xfrm>
            <a:custGeom>
              <a:avLst/>
              <a:gdLst/>
              <a:ahLst/>
              <a:cxnLst/>
              <a:rect l="l" t="t" r="r" b="b"/>
              <a:pathLst>
                <a:path w="2636266" h="1519809">
                  <a:moveTo>
                    <a:pt x="0" y="182372"/>
                  </a:moveTo>
                  <a:cubicBezTo>
                    <a:pt x="0" y="81661"/>
                    <a:pt x="81661" y="0"/>
                    <a:pt x="182372" y="0"/>
                  </a:cubicBezTo>
                  <a:lnTo>
                    <a:pt x="2453894" y="0"/>
                  </a:lnTo>
                  <a:cubicBezTo>
                    <a:pt x="2554605" y="0"/>
                    <a:pt x="2636266" y="81661"/>
                    <a:pt x="2636266" y="182372"/>
                  </a:cubicBezTo>
                  <a:lnTo>
                    <a:pt x="2636266" y="1337437"/>
                  </a:lnTo>
                  <a:cubicBezTo>
                    <a:pt x="2636266" y="1438148"/>
                    <a:pt x="2554605" y="1519809"/>
                    <a:pt x="2453894" y="1519809"/>
                  </a:cubicBezTo>
                  <a:lnTo>
                    <a:pt x="182372" y="1519809"/>
                  </a:lnTo>
                  <a:cubicBezTo>
                    <a:pt x="81661" y="1519809"/>
                    <a:pt x="0" y="1438148"/>
                    <a:pt x="0" y="1337437"/>
                  </a:cubicBezTo>
                  <a:close/>
                </a:path>
              </a:pathLst>
            </a:custGeom>
            <a:solidFill>
              <a:srgbClr val="080F1E"/>
            </a:solidFill>
            <a:ln w="14299" cap="sq">
              <a:solidFill>
                <a:srgbClr val="080F1E"/>
              </a:solidFill>
              <a:prstDash val="solid"/>
              <a:miter/>
            </a:ln>
          </p:spPr>
        </p:sp>
      </p:grpSp>
      <p:grpSp>
        <p:nvGrpSpPr>
          <p:cNvPr id="143" name="Group 143"/>
          <p:cNvGrpSpPr/>
          <p:nvPr/>
        </p:nvGrpSpPr>
        <p:grpSpPr>
          <a:xfrm>
            <a:off x="10610755" y="5435784"/>
            <a:ext cx="1372676" cy="274539"/>
            <a:chOff x="0" y="0"/>
            <a:chExt cx="1830235" cy="366052"/>
          </a:xfrm>
        </p:grpSpPr>
        <p:sp>
          <p:nvSpPr>
            <p:cNvPr id="144" name="Freeform 144"/>
            <p:cNvSpPr/>
            <p:nvPr/>
          </p:nvSpPr>
          <p:spPr>
            <a:xfrm>
              <a:off x="0" y="0"/>
              <a:ext cx="1830230" cy="366046"/>
            </a:xfrm>
            <a:custGeom>
              <a:avLst/>
              <a:gdLst/>
              <a:ahLst/>
              <a:cxnLst/>
              <a:rect l="l" t="t" r="r" b="b"/>
              <a:pathLst>
                <a:path w="1830230" h="366046">
                  <a:moveTo>
                    <a:pt x="0" y="0"/>
                  </a:moveTo>
                  <a:lnTo>
                    <a:pt x="1830230" y="0"/>
                  </a:lnTo>
                  <a:lnTo>
                    <a:pt x="1830230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7424" b="-47426"/>
              </a:stretch>
            </a:blipFill>
          </p:spPr>
        </p:sp>
        <p:sp>
          <p:nvSpPr>
            <p:cNvPr id="145" name="TextBox 145"/>
            <p:cNvSpPr txBox="1"/>
            <p:nvPr/>
          </p:nvSpPr>
          <p:spPr>
            <a:xfrm>
              <a:off x="0" y="-9525"/>
              <a:ext cx="1830235" cy="3755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1"/>
                </a:lnSpc>
              </a:pPr>
              <a:r>
                <a:rPr lang="en-US" sz="1275" b="1">
                  <a:solidFill>
                    <a:srgbClr val="9FAEC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ROR</a:t>
              </a:r>
            </a:p>
          </p:txBody>
        </p:sp>
      </p:grpSp>
      <p:grpSp>
        <p:nvGrpSpPr>
          <p:cNvPr id="146" name="Group 146"/>
          <p:cNvGrpSpPr/>
          <p:nvPr/>
        </p:nvGrpSpPr>
        <p:grpSpPr>
          <a:xfrm>
            <a:off x="10610755" y="5724039"/>
            <a:ext cx="1578569" cy="411804"/>
            <a:chOff x="0" y="0"/>
            <a:chExt cx="2104758" cy="549072"/>
          </a:xfrm>
        </p:grpSpPr>
        <p:sp>
          <p:nvSpPr>
            <p:cNvPr id="147" name="Freeform 147"/>
            <p:cNvSpPr/>
            <p:nvPr/>
          </p:nvSpPr>
          <p:spPr>
            <a:xfrm>
              <a:off x="0" y="0"/>
              <a:ext cx="2104764" cy="549069"/>
            </a:xfrm>
            <a:custGeom>
              <a:avLst/>
              <a:gdLst/>
              <a:ahLst/>
              <a:cxnLst/>
              <a:rect l="l" t="t" r="r" b="b"/>
              <a:pathLst>
                <a:path w="2104764" h="549069">
                  <a:moveTo>
                    <a:pt x="0" y="0"/>
                  </a:moveTo>
                  <a:lnTo>
                    <a:pt x="2104764" y="0"/>
                  </a:lnTo>
                  <a:lnTo>
                    <a:pt x="2104764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692" b="-24692"/>
              </a:stretch>
            </a:blipFill>
          </p:spPr>
        </p:sp>
        <p:sp>
          <p:nvSpPr>
            <p:cNvPr id="148" name="TextBox 148"/>
            <p:cNvSpPr txBox="1"/>
            <p:nvPr/>
          </p:nvSpPr>
          <p:spPr>
            <a:xfrm>
              <a:off x="0" y="-9525"/>
              <a:ext cx="2104758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1"/>
                </a:lnSpc>
              </a:pPr>
              <a:r>
                <a:rPr lang="en-US" sz="2101" b="1">
                  <a:solidFill>
                    <a:srgbClr val="FF5B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5.17</a:t>
              </a:r>
            </a:p>
          </p:txBody>
        </p:sp>
      </p:grpSp>
      <p:grpSp>
        <p:nvGrpSpPr>
          <p:cNvPr id="149" name="Group 149"/>
          <p:cNvGrpSpPr/>
          <p:nvPr/>
        </p:nvGrpSpPr>
        <p:grpSpPr>
          <a:xfrm>
            <a:off x="12621435" y="5291366"/>
            <a:ext cx="1977219" cy="1139885"/>
            <a:chOff x="0" y="0"/>
            <a:chExt cx="2636291" cy="1519847"/>
          </a:xfrm>
        </p:grpSpPr>
        <p:sp>
          <p:nvSpPr>
            <p:cNvPr id="150" name="Freeform 150"/>
            <p:cNvSpPr/>
            <p:nvPr/>
          </p:nvSpPr>
          <p:spPr>
            <a:xfrm>
              <a:off x="0" y="0"/>
              <a:ext cx="2636266" cy="1519809"/>
            </a:xfrm>
            <a:custGeom>
              <a:avLst/>
              <a:gdLst/>
              <a:ahLst/>
              <a:cxnLst/>
              <a:rect l="l" t="t" r="r" b="b"/>
              <a:pathLst>
                <a:path w="2636266" h="1519809">
                  <a:moveTo>
                    <a:pt x="0" y="182372"/>
                  </a:moveTo>
                  <a:cubicBezTo>
                    <a:pt x="0" y="81661"/>
                    <a:pt x="81661" y="0"/>
                    <a:pt x="182372" y="0"/>
                  </a:cubicBezTo>
                  <a:lnTo>
                    <a:pt x="2453894" y="0"/>
                  </a:lnTo>
                  <a:cubicBezTo>
                    <a:pt x="2554605" y="0"/>
                    <a:pt x="2636266" y="81661"/>
                    <a:pt x="2636266" y="182372"/>
                  </a:cubicBezTo>
                  <a:lnTo>
                    <a:pt x="2636266" y="1337437"/>
                  </a:lnTo>
                  <a:cubicBezTo>
                    <a:pt x="2636266" y="1438148"/>
                    <a:pt x="2554605" y="1519809"/>
                    <a:pt x="2453894" y="1519809"/>
                  </a:cubicBezTo>
                  <a:lnTo>
                    <a:pt x="182372" y="1519809"/>
                  </a:lnTo>
                  <a:cubicBezTo>
                    <a:pt x="81661" y="1519809"/>
                    <a:pt x="0" y="1438148"/>
                    <a:pt x="0" y="1337437"/>
                  </a:cubicBezTo>
                  <a:close/>
                </a:path>
              </a:pathLst>
            </a:custGeom>
            <a:solidFill>
              <a:srgbClr val="080F1E"/>
            </a:solidFill>
            <a:ln w="14299" cap="sq">
              <a:solidFill>
                <a:srgbClr val="080F1E"/>
              </a:solidFill>
              <a:prstDash val="solid"/>
              <a:miter/>
            </a:ln>
          </p:spPr>
        </p:sp>
      </p:grpSp>
      <p:grpSp>
        <p:nvGrpSpPr>
          <p:cNvPr id="151" name="Group 151"/>
          <p:cNvGrpSpPr/>
          <p:nvPr/>
        </p:nvGrpSpPr>
        <p:grpSpPr>
          <a:xfrm>
            <a:off x="12807029" y="5435784"/>
            <a:ext cx="1372676" cy="274539"/>
            <a:chOff x="0" y="0"/>
            <a:chExt cx="1830235" cy="366052"/>
          </a:xfrm>
        </p:grpSpPr>
        <p:sp>
          <p:nvSpPr>
            <p:cNvPr id="152" name="Freeform 152"/>
            <p:cNvSpPr/>
            <p:nvPr/>
          </p:nvSpPr>
          <p:spPr>
            <a:xfrm>
              <a:off x="0" y="0"/>
              <a:ext cx="1830230" cy="366046"/>
            </a:xfrm>
            <a:custGeom>
              <a:avLst/>
              <a:gdLst/>
              <a:ahLst/>
              <a:cxnLst/>
              <a:rect l="l" t="t" r="r" b="b"/>
              <a:pathLst>
                <a:path w="1830230" h="366046">
                  <a:moveTo>
                    <a:pt x="0" y="0"/>
                  </a:moveTo>
                  <a:lnTo>
                    <a:pt x="1830230" y="0"/>
                  </a:lnTo>
                  <a:lnTo>
                    <a:pt x="1830230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7424" b="-47426"/>
              </a:stretch>
            </a:blipFill>
          </p:spPr>
        </p:sp>
        <p:sp>
          <p:nvSpPr>
            <p:cNvPr id="153" name="TextBox 153"/>
            <p:cNvSpPr txBox="1"/>
            <p:nvPr/>
          </p:nvSpPr>
          <p:spPr>
            <a:xfrm>
              <a:off x="0" y="-9525"/>
              <a:ext cx="1830235" cy="3755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1"/>
                </a:lnSpc>
              </a:pPr>
              <a:r>
                <a:rPr lang="en-US" sz="1275" b="1">
                  <a:solidFill>
                    <a:srgbClr val="9FAEC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PRIORITY</a:t>
              </a:r>
            </a:p>
          </p:txBody>
        </p:sp>
      </p:grpSp>
      <p:grpSp>
        <p:nvGrpSpPr>
          <p:cNvPr id="154" name="Group 154"/>
          <p:cNvGrpSpPr/>
          <p:nvPr/>
        </p:nvGrpSpPr>
        <p:grpSpPr>
          <a:xfrm>
            <a:off x="12807029" y="5724039"/>
            <a:ext cx="1578569" cy="411804"/>
            <a:chOff x="0" y="0"/>
            <a:chExt cx="2104758" cy="549072"/>
          </a:xfrm>
        </p:grpSpPr>
        <p:sp>
          <p:nvSpPr>
            <p:cNvPr id="155" name="Freeform 155"/>
            <p:cNvSpPr/>
            <p:nvPr/>
          </p:nvSpPr>
          <p:spPr>
            <a:xfrm>
              <a:off x="0" y="0"/>
              <a:ext cx="2104764" cy="549069"/>
            </a:xfrm>
            <a:custGeom>
              <a:avLst/>
              <a:gdLst/>
              <a:ahLst/>
              <a:cxnLst/>
              <a:rect l="l" t="t" r="r" b="b"/>
              <a:pathLst>
                <a:path w="2104764" h="549069">
                  <a:moveTo>
                    <a:pt x="0" y="0"/>
                  </a:moveTo>
                  <a:lnTo>
                    <a:pt x="2104764" y="0"/>
                  </a:lnTo>
                  <a:lnTo>
                    <a:pt x="2104764" y="549069"/>
                  </a:lnTo>
                  <a:lnTo>
                    <a:pt x="0" y="54906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4692" b="-24692"/>
              </a:stretch>
            </a:blipFill>
          </p:spPr>
        </p:sp>
        <p:sp>
          <p:nvSpPr>
            <p:cNvPr id="156" name="TextBox 156"/>
            <p:cNvSpPr txBox="1"/>
            <p:nvPr/>
          </p:nvSpPr>
          <p:spPr>
            <a:xfrm>
              <a:off x="0" y="-9525"/>
              <a:ext cx="2104758" cy="55859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521"/>
                </a:lnSpc>
              </a:pPr>
              <a:r>
                <a:rPr lang="en-US" sz="2101" b="1">
                  <a:solidFill>
                    <a:srgbClr val="FF5B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CRITICAL</a:t>
              </a:r>
            </a:p>
          </p:txBody>
        </p:sp>
      </p:grpSp>
      <p:grpSp>
        <p:nvGrpSpPr>
          <p:cNvPr id="157" name="Group 157"/>
          <p:cNvGrpSpPr/>
          <p:nvPr/>
        </p:nvGrpSpPr>
        <p:grpSpPr>
          <a:xfrm>
            <a:off x="4118019" y="6794725"/>
            <a:ext cx="3706216" cy="384353"/>
            <a:chOff x="0" y="0"/>
            <a:chExt cx="4941621" cy="512470"/>
          </a:xfrm>
        </p:grpSpPr>
        <p:sp>
          <p:nvSpPr>
            <p:cNvPr id="158" name="Freeform 158"/>
            <p:cNvSpPr/>
            <p:nvPr/>
          </p:nvSpPr>
          <p:spPr>
            <a:xfrm>
              <a:off x="0" y="0"/>
              <a:ext cx="4941620" cy="512464"/>
            </a:xfrm>
            <a:custGeom>
              <a:avLst/>
              <a:gdLst/>
              <a:ahLst/>
              <a:cxnLst/>
              <a:rect l="l" t="t" r="r" b="b"/>
              <a:pathLst>
                <a:path w="4941620" h="512464">
                  <a:moveTo>
                    <a:pt x="0" y="0"/>
                  </a:moveTo>
                  <a:lnTo>
                    <a:pt x="4941620" y="0"/>
                  </a:lnTo>
                  <a:lnTo>
                    <a:pt x="4941620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37890" b="-137892"/>
              </a:stretch>
            </a:blipFill>
          </p:spPr>
        </p:sp>
        <p:sp>
          <p:nvSpPr>
            <p:cNvPr id="159" name="TextBox 159"/>
            <p:cNvSpPr txBox="1"/>
            <p:nvPr/>
          </p:nvSpPr>
          <p:spPr>
            <a:xfrm>
              <a:off x="0" y="0"/>
              <a:ext cx="4941621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1"/>
                </a:lnSpc>
              </a:pPr>
              <a:r>
                <a:rPr lang="en-US" sz="1651" b="1">
                  <a:solidFill>
                    <a:srgbClr val="F2F6F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Potential safety signals</a:t>
              </a:r>
            </a:p>
          </p:txBody>
        </p:sp>
      </p:grpSp>
      <p:grpSp>
        <p:nvGrpSpPr>
          <p:cNvPr id="160" name="Group 160"/>
          <p:cNvGrpSpPr/>
          <p:nvPr/>
        </p:nvGrpSpPr>
        <p:grpSpPr>
          <a:xfrm>
            <a:off x="4118019" y="7233980"/>
            <a:ext cx="2333539" cy="301990"/>
            <a:chOff x="0" y="0"/>
            <a:chExt cx="3111386" cy="402654"/>
          </a:xfrm>
        </p:grpSpPr>
        <p:sp>
          <p:nvSpPr>
            <p:cNvPr id="161" name="Freeform 161"/>
            <p:cNvSpPr/>
            <p:nvPr/>
          </p:nvSpPr>
          <p:spPr>
            <a:xfrm>
              <a:off x="0" y="0"/>
              <a:ext cx="3111391" cy="402651"/>
            </a:xfrm>
            <a:custGeom>
              <a:avLst/>
              <a:gdLst/>
              <a:ahLst/>
              <a:cxnLst/>
              <a:rect l="l" t="t" r="r" b="b"/>
              <a:pathLst>
                <a:path w="3111391" h="402651">
                  <a:moveTo>
                    <a:pt x="0" y="0"/>
                  </a:moveTo>
                  <a:lnTo>
                    <a:pt x="3111391" y="0"/>
                  </a:lnTo>
                  <a:lnTo>
                    <a:pt x="3111391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0565" b="-100566"/>
              </a:stretch>
            </a:blipFill>
          </p:spPr>
        </p:sp>
        <p:sp>
          <p:nvSpPr>
            <p:cNvPr id="162" name="TextBox 162"/>
            <p:cNvSpPr txBox="1"/>
            <p:nvPr/>
          </p:nvSpPr>
          <p:spPr>
            <a:xfrm>
              <a:off x="0" y="0"/>
              <a:ext cx="3111386" cy="4026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41"/>
                </a:lnSpc>
              </a:pPr>
              <a:r>
                <a:rPr lang="en-US" sz="1200" b="1">
                  <a:solidFill>
                    <a:srgbClr val="9FAEC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EVENT</a:t>
              </a:r>
            </a:p>
          </p:txBody>
        </p:sp>
      </p:grpSp>
      <p:grpSp>
        <p:nvGrpSpPr>
          <p:cNvPr id="163" name="Group 163"/>
          <p:cNvGrpSpPr/>
          <p:nvPr/>
        </p:nvGrpSpPr>
        <p:grpSpPr>
          <a:xfrm>
            <a:off x="6904539" y="7233980"/>
            <a:ext cx="892235" cy="301990"/>
            <a:chOff x="0" y="0"/>
            <a:chExt cx="1189647" cy="402654"/>
          </a:xfrm>
        </p:grpSpPr>
        <p:sp>
          <p:nvSpPr>
            <p:cNvPr id="164" name="Freeform 164"/>
            <p:cNvSpPr/>
            <p:nvPr/>
          </p:nvSpPr>
          <p:spPr>
            <a:xfrm>
              <a:off x="0" y="0"/>
              <a:ext cx="1189649" cy="402651"/>
            </a:xfrm>
            <a:custGeom>
              <a:avLst/>
              <a:gdLst/>
              <a:ahLst/>
              <a:cxnLst/>
              <a:rect l="l" t="t" r="r" b="b"/>
              <a:pathLst>
                <a:path w="1189649" h="402651">
                  <a:moveTo>
                    <a:pt x="0" y="0"/>
                  </a:moveTo>
                  <a:lnTo>
                    <a:pt x="1189649" y="0"/>
                  </a:lnTo>
                  <a:lnTo>
                    <a:pt x="1189649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568" b="-7569"/>
              </a:stretch>
            </a:blipFill>
          </p:spPr>
        </p:sp>
        <p:sp>
          <p:nvSpPr>
            <p:cNvPr id="165" name="TextBox 165"/>
            <p:cNvSpPr txBox="1"/>
            <p:nvPr/>
          </p:nvSpPr>
          <p:spPr>
            <a:xfrm>
              <a:off x="0" y="0"/>
              <a:ext cx="1189647" cy="4026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41"/>
                </a:lnSpc>
              </a:pPr>
              <a:r>
                <a:rPr lang="en-US" sz="1200" b="1">
                  <a:solidFill>
                    <a:srgbClr val="9FAEC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PRR</a:t>
              </a:r>
            </a:p>
          </p:txBody>
        </p:sp>
      </p:grpSp>
      <p:grpSp>
        <p:nvGrpSpPr>
          <p:cNvPr id="166" name="Group 166"/>
          <p:cNvGrpSpPr/>
          <p:nvPr/>
        </p:nvGrpSpPr>
        <p:grpSpPr>
          <a:xfrm>
            <a:off x="8071314" y="7233980"/>
            <a:ext cx="892235" cy="301990"/>
            <a:chOff x="0" y="0"/>
            <a:chExt cx="1189647" cy="402654"/>
          </a:xfrm>
        </p:grpSpPr>
        <p:sp>
          <p:nvSpPr>
            <p:cNvPr id="167" name="Freeform 167"/>
            <p:cNvSpPr/>
            <p:nvPr/>
          </p:nvSpPr>
          <p:spPr>
            <a:xfrm>
              <a:off x="0" y="0"/>
              <a:ext cx="1189649" cy="402651"/>
            </a:xfrm>
            <a:custGeom>
              <a:avLst/>
              <a:gdLst/>
              <a:ahLst/>
              <a:cxnLst/>
              <a:rect l="l" t="t" r="r" b="b"/>
              <a:pathLst>
                <a:path w="1189649" h="402651">
                  <a:moveTo>
                    <a:pt x="0" y="0"/>
                  </a:moveTo>
                  <a:lnTo>
                    <a:pt x="1189649" y="0"/>
                  </a:lnTo>
                  <a:lnTo>
                    <a:pt x="1189649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568" b="-7569"/>
              </a:stretch>
            </a:blipFill>
          </p:spPr>
        </p:sp>
        <p:sp>
          <p:nvSpPr>
            <p:cNvPr id="168" name="TextBox 168"/>
            <p:cNvSpPr txBox="1"/>
            <p:nvPr/>
          </p:nvSpPr>
          <p:spPr>
            <a:xfrm>
              <a:off x="0" y="0"/>
              <a:ext cx="1189647" cy="4026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41"/>
                </a:lnSpc>
              </a:pPr>
              <a:r>
                <a:rPr lang="en-US" sz="1200" b="1">
                  <a:solidFill>
                    <a:srgbClr val="9FAEC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ROR</a:t>
              </a:r>
            </a:p>
          </p:txBody>
        </p:sp>
      </p:grpSp>
      <p:grpSp>
        <p:nvGrpSpPr>
          <p:cNvPr id="169" name="Group 169"/>
          <p:cNvGrpSpPr/>
          <p:nvPr/>
        </p:nvGrpSpPr>
        <p:grpSpPr>
          <a:xfrm>
            <a:off x="9306716" y="7233980"/>
            <a:ext cx="1578569" cy="301990"/>
            <a:chOff x="0" y="0"/>
            <a:chExt cx="2104758" cy="402654"/>
          </a:xfrm>
        </p:grpSpPr>
        <p:sp>
          <p:nvSpPr>
            <p:cNvPr id="170" name="Freeform 170"/>
            <p:cNvSpPr/>
            <p:nvPr/>
          </p:nvSpPr>
          <p:spPr>
            <a:xfrm>
              <a:off x="0" y="0"/>
              <a:ext cx="2104764" cy="402651"/>
            </a:xfrm>
            <a:custGeom>
              <a:avLst/>
              <a:gdLst/>
              <a:ahLst/>
              <a:cxnLst/>
              <a:rect l="l" t="t" r="r" b="b"/>
              <a:pathLst>
                <a:path w="2104764" h="402651">
                  <a:moveTo>
                    <a:pt x="0" y="0"/>
                  </a:moveTo>
                  <a:lnTo>
                    <a:pt x="2104764" y="0"/>
                  </a:lnTo>
                  <a:lnTo>
                    <a:pt x="2104764" y="402651"/>
                  </a:lnTo>
                  <a:lnTo>
                    <a:pt x="0" y="40265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51852" b="-51853"/>
              </a:stretch>
            </a:blipFill>
          </p:spPr>
        </p:sp>
        <p:sp>
          <p:nvSpPr>
            <p:cNvPr id="171" name="TextBox 171"/>
            <p:cNvSpPr txBox="1"/>
            <p:nvPr/>
          </p:nvSpPr>
          <p:spPr>
            <a:xfrm>
              <a:off x="0" y="0"/>
              <a:ext cx="2104758" cy="40265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441"/>
                </a:lnSpc>
              </a:pPr>
              <a:r>
                <a:rPr lang="en-US" sz="1200" b="1">
                  <a:solidFill>
                    <a:srgbClr val="9FAEC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PRIORITY</a:t>
              </a:r>
            </a:p>
          </p:txBody>
        </p:sp>
      </p:grpSp>
      <p:grpSp>
        <p:nvGrpSpPr>
          <p:cNvPr id="172" name="Group 172"/>
          <p:cNvGrpSpPr/>
          <p:nvPr/>
        </p:nvGrpSpPr>
        <p:grpSpPr>
          <a:xfrm>
            <a:off x="4014778" y="7556278"/>
            <a:ext cx="10103444" cy="481003"/>
            <a:chOff x="0" y="0"/>
            <a:chExt cx="13471258" cy="641337"/>
          </a:xfrm>
        </p:grpSpPr>
        <p:sp>
          <p:nvSpPr>
            <p:cNvPr id="173" name="Freeform 173"/>
            <p:cNvSpPr/>
            <p:nvPr/>
          </p:nvSpPr>
          <p:spPr>
            <a:xfrm>
              <a:off x="0" y="0"/>
              <a:ext cx="13471272" cy="641350"/>
            </a:xfrm>
            <a:custGeom>
              <a:avLst/>
              <a:gdLst/>
              <a:ahLst/>
              <a:cxnLst/>
              <a:rect l="l" t="t" r="r" b="b"/>
              <a:pathLst>
                <a:path w="13471272" h="641350">
                  <a:moveTo>
                    <a:pt x="0" y="76962"/>
                  </a:moveTo>
                  <a:cubicBezTo>
                    <a:pt x="0" y="34417"/>
                    <a:pt x="34417" y="0"/>
                    <a:pt x="76962" y="0"/>
                  </a:cubicBezTo>
                  <a:lnTo>
                    <a:pt x="13394310" y="0"/>
                  </a:lnTo>
                  <a:cubicBezTo>
                    <a:pt x="13436854" y="0"/>
                    <a:pt x="13471272" y="34417"/>
                    <a:pt x="13471272" y="76962"/>
                  </a:cubicBezTo>
                  <a:lnTo>
                    <a:pt x="13471272" y="564388"/>
                  </a:lnTo>
                  <a:cubicBezTo>
                    <a:pt x="13471272" y="606933"/>
                    <a:pt x="13436854" y="641350"/>
                    <a:pt x="13394310" y="641350"/>
                  </a:cubicBezTo>
                  <a:lnTo>
                    <a:pt x="76962" y="641350"/>
                  </a:lnTo>
                  <a:cubicBezTo>
                    <a:pt x="34417" y="641350"/>
                    <a:pt x="0" y="606933"/>
                    <a:pt x="0" y="564388"/>
                  </a:cubicBezTo>
                  <a:close/>
                </a:path>
              </a:pathLst>
            </a:custGeom>
            <a:solidFill>
              <a:srgbClr val="080F1E"/>
            </a:solidFill>
            <a:ln w="14299" cap="sq">
              <a:solidFill>
                <a:srgbClr val="080F1E"/>
              </a:solidFill>
              <a:prstDash val="solid"/>
              <a:miter/>
            </a:ln>
          </p:spPr>
        </p:sp>
      </p:grpSp>
      <p:grpSp>
        <p:nvGrpSpPr>
          <p:cNvPr id="174" name="Group 174"/>
          <p:cNvGrpSpPr/>
          <p:nvPr/>
        </p:nvGrpSpPr>
        <p:grpSpPr>
          <a:xfrm>
            <a:off x="4159196" y="7618333"/>
            <a:ext cx="2539441" cy="329441"/>
            <a:chOff x="0" y="0"/>
            <a:chExt cx="3385922" cy="439255"/>
          </a:xfrm>
        </p:grpSpPr>
        <p:sp>
          <p:nvSpPr>
            <p:cNvPr id="175" name="Freeform 175"/>
            <p:cNvSpPr/>
            <p:nvPr/>
          </p:nvSpPr>
          <p:spPr>
            <a:xfrm>
              <a:off x="0" y="0"/>
              <a:ext cx="3385925" cy="439255"/>
            </a:xfrm>
            <a:custGeom>
              <a:avLst/>
              <a:gdLst/>
              <a:ahLst/>
              <a:cxnLst/>
              <a:rect l="l" t="t" r="r" b="b"/>
              <a:pathLst>
                <a:path w="3385925" h="439255">
                  <a:moveTo>
                    <a:pt x="0" y="0"/>
                  </a:moveTo>
                  <a:lnTo>
                    <a:pt x="3385925" y="0"/>
                  </a:lnTo>
                  <a:lnTo>
                    <a:pt x="3385925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0197" b="-100196"/>
              </a:stretch>
            </a:blipFill>
          </p:spPr>
        </p:sp>
        <p:sp>
          <p:nvSpPr>
            <p:cNvPr id="176" name="TextBox 176"/>
            <p:cNvSpPr txBox="1"/>
            <p:nvPr/>
          </p:nvSpPr>
          <p:spPr>
            <a:xfrm>
              <a:off x="0" y="0"/>
              <a:ext cx="3385922" cy="4392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11"/>
                </a:lnSpc>
              </a:pPr>
              <a:r>
                <a:rPr lang="en-US" sz="1426" b="1">
                  <a:solidFill>
                    <a:srgbClr val="F2F6F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Cardiac arrhythmia</a:t>
              </a:r>
            </a:p>
          </p:txBody>
        </p:sp>
      </p:grpSp>
      <p:grpSp>
        <p:nvGrpSpPr>
          <p:cNvPr id="177" name="Group 177"/>
          <p:cNvGrpSpPr/>
          <p:nvPr/>
        </p:nvGrpSpPr>
        <p:grpSpPr>
          <a:xfrm>
            <a:off x="6904539" y="7618333"/>
            <a:ext cx="892235" cy="329441"/>
            <a:chOff x="0" y="0"/>
            <a:chExt cx="1189647" cy="439255"/>
          </a:xfrm>
        </p:grpSpPr>
        <p:sp>
          <p:nvSpPr>
            <p:cNvPr id="178" name="Freeform 178"/>
            <p:cNvSpPr/>
            <p:nvPr/>
          </p:nvSpPr>
          <p:spPr>
            <a:xfrm>
              <a:off x="0" y="0"/>
              <a:ext cx="1189649" cy="439255"/>
            </a:xfrm>
            <a:custGeom>
              <a:avLst/>
              <a:gdLst/>
              <a:ahLst/>
              <a:cxnLst/>
              <a:rect l="l" t="t" r="r" b="b"/>
              <a:pathLst>
                <a:path w="1189649" h="439255">
                  <a:moveTo>
                    <a:pt x="0" y="0"/>
                  </a:moveTo>
                  <a:lnTo>
                    <a:pt x="1189649" y="0"/>
                  </a:lnTo>
                  <a:lnTo>
                    <a:pt x="1189649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771" b="-2771"/>
              </a:stretch>
            </a:blipFill>
          </p:spPr>
        </p:sp>
        <p:sp>
          <p:nvSpPr>
            <p:cNvPr id="179" name="TextBox 179"/>
            <p:cNvSpPr txBox="1"/>
            <p:nvPr/>
          </p:nvSpPr>
          <p:spPr>
            <a:xfrm>
              <a:off x="0" y="0"/>
              <a:ext cx="1189647" cy="4392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11"/>
                </a:lnSpc>
              </a:pPr>
              <a:r>
                <a:rPr lang="en-US" sz="1426">
                  <a:solidFill>
                    <a:srgbClr val="F2F6FC"/>
                  </a:solidFill>
                  <a:latin typeface="Aptos"/>
                  <a:ea typeface="Aptos"/>
                  <a:cs typeface="Aptos"/>
                  <a:sym typeface="Aptos"/>
                </a:rPr>
                <a:t>4.82</a:t>
              </a:r>
            </a:p>
          </p:txBody>
        </p:sp>
      </p:grpSp>
      <p:grpSp>
        <p:nvGrpSpPr>
          <p:cNvPr id="180" name="Group 180"/>
          <p:cNvGrpSpPr/>
          <p:nvPr/>
        </p:nvGrpSpPr>
        <p:grpSpPr>
          <a:xfrm>
            <a:off x="8071314" y="7618333"/>
            <a:ext cx="892235" cy="329441"/>
            <a:chOff x="0" y="0"/>
            <a:chExt cx="1189647" cy="439255"/>
          </a:xfrm>
        </p:grpSpPr>
        <p:sp>
          <p:nvSpPr>
            <p:cNvPr id="181" name="Freeform 181"/>
            <p:cNvSpPr/>
            <p:nvPr/>
          </p:nvSpPr>
          <p:spPr>
            <a:xfrm>
              <a:off x="0" y="0"/>
              <a:ext cx="1189649" cy="439255"/>
            </a:xfrm>
            <a:custGeom>
              <a:avLst/>
              <a:gdLst/>
              <a:ahLst/>
              <a:cxnLst/>
              <a:rect l="l" t="t" r="r" b="b"/>
              <a:pathLst>
                <a:path w="1189649" h="439255">
                  <a:moveTo>
                    <a:pt x="0" y="0"/>
                  </a:moveTo>
                  <a:lnTo>
                    <a:pt x="1189649" y="0"/>
                  </a:lnTo>
                  <a:lnTo>
                    <a:pt x="1189649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771" b="-2771"/>
              </a:stretch>
            </a:blipFill>
          </p:spPr>
        </p:sp>
        <p:sp>
          <p:nvSpPr>
            <p:cNvPr id="182" name="TextBox 182"/>
            <p:cNvSpPr txBox="1"/>
            <p:nvPr/>
          </p:nvSpPr>
          <p:spPr>
            <a:xfrm>
              <a:off x="0" y="0"/>
              <a:ext cx="1189647" cy="4392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11"/>
                </a:lnSpc>
              </a:pPr>
              <a:r>
                <a:rPr lang="en-US" sz="1426">
                  <a:solidFill>
                    <a:srgbClr val="F2F6FC"/>
                  </a:solidFill>
                  <a:latin typeface="Aptos"/>
                  <a:ea typeface="Aptos"/>
                  <a:cs typeface="Aptos"/>
                  <a:sym typeface="Aptos"/>
                </a:rPr>
                <a:t>5.17</a:t>
              </a:r>
            </a:p>
          </p:txBody>
        </p:sp>
      </p:grpSp>
      <p:grpSp>
        <p:nvGrpSpPr>
          <p:cNvPr id="183" name="Group 183"/>
          <p:cNvGrpSpPr/>
          <p:nvPr/>
        </p:nvGrpSpPr>
        <p:grpSpPr>
          <a:xfrm>
            <a:off x="9306716" y="7618333"/>
            <a:ext cx="1441304" cy="329441"/>
            <a:chOff x="0" y="0"/>
            <a:chExt cx="1921739" cy="439255"/>
          </a:xfrm>
        </p:grpSpPr>
        <p:sp>
          <p:nvSpPr>
            <p:cNvPr id="184" name="Freeform 184"/>
            <p:cNvSpPr/>
            <p:nvPr/>
          </p:nvSpPr>
          <p:spPr>
            <a:xfrm>
              <a:off x="0" y="0"/>
              <a:ext cx="1921741" cy="439255"/>
            </a:xfrm>
            <a:custGeom>
              <a:avLst/>
              <a:gdLst/>
              <a:ahLst/>
              <a:cxnLst/>
              <a:rect l="l" t="t" r="r" b="b"/>
              <a:pathLst>
                <a:path w="1921741" h="439255">
                  <a:moveTo>
                    <a:pt x="0" y="0"/>
                  </a:moveTo>
                  <a:lnTo>
                    <a:pt x="1921741" y="0"/>
                  </a:lnTo>
                  <a:lnTo>
                    <a:pt x="1921741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5246" b="-35246"/>
              </a:stretch>
            </a:blipFill>
          </p:spPr>
        </p:sp>
        <p:sp>
          <p:nvSpPr>
            <p:cNvPr id="185" name="TextBox 185"/>
            <p:cNvSpPr txBox="1"/>
            <p:nvPr/>
          </p:nvSpPr>
          <p:spPr>
            <a:xfrm>
              <a:off x="0" y="-9525"/>
              <a:ext cx="1921739" cy="4487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1"/>
                </a:lnSpc>
              </a:pPr>
              <a:r>
                <a:rPr lang="en-US" sz="1351" b="1">
                  <a:solidFill>
                    <a:srgbClr val="FF5B69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CRITICAL</a:t>
              </a:r>
            </a:p>
          </p:txBody>
        </p:sp>
      </p:grpSp>
      <p:grpSp>
        <p:nvGrpSpPr>
          <p:cNvPr id="186" name="Group 186"/>
          <p:cNvGrpSpPr/>
          <p:nvPr/>
        </p:nvGrpSpPr>
        <p:grpSpPr>
          <a:xfrm>
            <a:off x="4159196" y="8139951"/>
            <a:ext cx="2539441" cy="329441"/>
            <a:chOff x="0" y="0"/>
            <a:chExt cx="3385922" cy="439255"/>
          </a:xfrm>
        </p:grpSpPr>
        <p:sp>
          <p:nvSpPr>
            <p:cNvPr id="187" name="Freeform 187"/>
            <p:cNvSpPr/>
            <p:nvPr/>
          </p:nvSpPr>
          <p:spPr>
            <a:xfrm>
              <a:off x="0" y="0"/>
              <a:ext cx="3385925" cy="439255"/>
            </a:xfrm>
            <a:custGeom>
              <a:avLst/>
              <a:gdLst/>
              <a:ahLst/>
              <a:cxnLst/>
              <a:rect l="l" t="t" r="r" b="b"/>
              <a:pathLst>
                <a:path w="3385925" h="439255">
                  <a:moveTo>
                    <a:pt x="0" y="0"/>
                  </a:moveTo>
                  <a:lnTo>
                    <a:pt x="3385925" y="0"/>
                  </a:lnTo>
                  <a:lnTo>
                    <a:pt x="3385925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0197" b="-100196"/>
              </a:stretch>
            </a:blipFill>
          </p:spPr>
        </p:sp>
        <p:sp>
          <p:nvSpPr>
            <p:cNvPr id="188" name="TextBox 188"/>
            <p:cNvSpPr txBox="1"/>
            <p:nvPr/>
          </p:nvSpPr>
          <p:spPr>
            <a:xfrm>
              <a:off x="0" y="0"/>
              <a:ext cx="3385922" cy="4392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11"/>
                </a:lnSpc>
              </a:pPr>
              <a:r>
                <a:rPr lang="en-US" sz="1426">
                  <a:solidFill>
                    <a:srgbClr val="F2F6FC"/>
                  </a:solidFill>
                  <a:latin typeface="Aptos"/>
                  <a:ea typeface="Aptos"/>
                  <a:cs typeface="Aptos"/>
                  <a:sym typeface="Aptos"/>
                </a:rPr>
                <a:t>Hypotension</a:t>
              </a:r>
            </a:p>
          </p:txBody>
        </p:sp>
      </p:grpSp>
      <p:grpSp>
        <p:nvGrpSpPr>
          <p:cNvPr id="189" name="Group 189"/>
          <p:cNvGrpSpPr/>
          <p:nvPr/>
        </p:nvGrpSpPr>
        <p:grpSpPr>
          <a:xfrm>
            <a:off x="6904539" y="8139951"/>
            <a:ext cx="892235" cy="329441"/>
            <a:chOff x="0" y="0"/>
            <a:chExt cx="1189647" cy="439255"/>
          </a:xfrm>
        </p:grpSpPr>
        <p:sp>
          <p:nvSpPr>
            <p:cNvPr id="190" name="Freeform 190"/>
            <p:cNvSpPr/>
            <p:nvPr/>
          </p:nvSpPr>
          <p:spPr>
            <a:xfrm>
              <a:off x="0" y="0"/>
              <a:ext cx="1189649" cy="439255"/>
            </a:xfrm>
            <a:custGeom>
              <a:avLst/>
              <a:gdLst/>
              <a:ahLst/>
              <a:cxnLst/>
              <a:rect l="l" t="t" r="r" b="b"/>
              <a:pathLst>
                <a:path w="1189649" h="439255">
                  <a:moveTo>
                    <a:pt x="0" y="0"/>
                  </a:moveTo>
                  <a:lnTo>
                    <a:pt x="1189649" y="0"/>
                  </a:lnTo>
                  <a:lnTo>
                    <a:pt x="1189649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771" b="-2771"/>
              </a:stretch>
            </a:blipFill>
          </p:spPr>
        </p:sp>
        <p:sp>
          <p:nvSpPr>
            <p:cNvPr id="191" name="TextBox 191"/>
            <p:cNvSpPr txBox="1"/>
            <p:nvPr/>
          </p:nvSpPr>
          <p:spPr>
            <a:xfrm>
              <a:off x="0" y="0"/>
              <a:ext cx="1189647" cy="4392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11"/>
                </a:lnSpc>
              </a:pPr>
              <a:r>
                <a:rPr lang="en-US" sz="1426">
                  <a:solidFill>
                    <a:srgbClr val="F2F6FC"/>
                  </a:solidFill>
                  <a:latin typeface="Aptos"/>
                  <a:ea typeface="Aptos"/>
                  <a:cs typeface="Aptos"/>
                  <a:sym typeface="Aptos"/>
                </a:rPr>
                <a:t>2.41</a:t>
              </a:r>
            </a:p>
          </p:txBody>
        </p:sp>
      </p:grpSp>
      <p:grpSp>
        <p:nvGrpSpPr>
          <p:cNvPr id="192" name="Group 192"/>
          <p:cNvGrpSpPr/>
          <p:nvPr/>
        </p:nvGrpSpPr>
        <p:grpSpPr>
          <a:xfrm>
            <a:off x="8071314" y="8139951"/>
            <a:ext cx="892235" cy="329441"/>
            <a:chOff x="0" y="0"/>
            <a:chExt cx="1189647" cy="439255"/>
          </a:xfrm>
        </p:grpSpPr>
        <p:sp>
          <p:nvSpPr>
            <p:cNvPr id="193" name="Freeform 193"/>
            <p:cNvSpPr/>
            <p:nvPr/>
          </p:nvSpPr>
          <p:spPr>
            <a:xfrm>
              <a:off x="0" y="0"/>
              <a:ext cx="1189649" cy="439255"/>
            </a:xfrm>
            <a:custGeom>
              <a:avLst/>
              <a:gdLst/>
              <a:ahLst/>
              <a:cxnLst/>
              <a:rect l="l" t="t" r="r" b="b"/>
              <a:pathLst>
                <a:path w="1189649" h="439255">
                  <a:moveTo>
                    <a:pt x="0" y="0"/>
                  </a:moveTo>
                  <a:lnTo>
                    <a:pt x="1189649" y="0"/>
                  </a:lnTo>
                  <a:lnTo>
                    <a:pt x="1189649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771" b="-2771"/>
              </a:stretch>
            </a:blipFill>
          </p:spPr>
        </p:sp>
        <p:sp>
          <p:nvSpPr>
            <p:cNvPr id="194" name="TextBox 194"/>
            <p:cNvSpPr txBox="1"/>
            <p:nvPr/>
          </p:nvSpPr>
          <p:spPr>
            <a:xfrm>
              <a:off x="0" y="0"/>
              <a:ext cx="1189647" cy="4392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11"/>
                </a:lnSpc>
              </a:pPr>
              <a:r>
                <a:rPr lang="en-US" sz="1426">
                  <a:solidFill>
                    <a:srgbClr val="F2F6FC"/>
                  </a:solidFill>
                  <a:latin typeface="Aptos"/>
                  <a:ea typeface="Aptos"/>
                  <a:cs typeface="Aptos"/>
                  <a:sym typeface="Aptos"/>
                </a:rPr>
                <a:t>2.63</a:t>
              </a:r>
            </a:p>
          </p:txBody>
        </p:sp>
      </p:grpSp>
      <p:grpSp>
        <p:nvGrpSpPr>
          <p:cNvPr id="195" name="Group 195"/>
          <p:cNvGrpSpPr/>
          <p:nvPr/>
        </p:nvGrpSpPr>
        <p:grpSpPr>
          <a:xfrm>
            <a:off x="9306716" y="8139951"/>
            <a:ext cx="1441304" cy="329441"/>
            <a:chOff x="0" y="0"/>
            <a:chExt cx="1921739" cy="439255"/>
          </a:xfrm>
        </p:grpSpPr>
        <p:sp>
          <p:nvSpPr>
            <p:cNvPr id="196" name="Freeform 196"/>
            <p:cNvSpPr/>
            <p:nvPr/>
          </p:nvSpPr>
          <p:spPr>
            <a:xfrm>
              <a:off x="0" y="0"/>
              <a:ext cx="1921741" cy="439255"/>
            </a:xfrm>
            <a:custGeom>
              <a:avLst/>
              <a:gdLst/>
              <a:ahLst/>
              <a:cxnLst/>
              <a:rect l="l" t="t" r="r" b="b"/>
              <a:pathLst>
                <a:path w="1921741" h="439255">
                  <a:moveTo>
                    <a:pt x="0" y="0"/>
                  </a:moveTo>
                  <a:lnTo>
                    <a:pt x="1921741" y="0"/>
                  </a:lnTo>
                  <a:lnTo>
                    <a:pt x="1921741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5246" b="-35246"/>
              </a:stretch>
            </a:blipFill>
          </p:spPr>
        </p:sp>
        <p:sp>
          <p:nvSpPr>
            <p:cNvPr id="197" name="TextBox 197"/>
            <p:cNvSpPr txBox="1"/>
            <p:nvPr/>
          </p:nvSpPr>
          <p:spPr>
            <a:xfrm>
              <a:off x="0" y="-9525"/>
              <a:ext cx="1921739" cy="4487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1"/>
                </a:lnSpc>
              </a:pPr>
              <a:r>
                <a:rPr lang="en-US" sz="1351" b="1">
                  <a:solidFill>
                    <a:srgbClr val="FFB84D"/>
                  </a:solidFill>
                  <a:latin typeface="Aptos Bold"/>
                  <a:ea typeface="Aptos Bold"/>
                  <a:cs typeface="Aptos Bold"/>
                  <a:sym typeface="Aptos Bold"/>
                </a:rPr>
                <a:t>HIGH</a:t>
              </a:r>
            </a:p>
          </p:txBody>
        </p:sp>
      </p:grpSp>
      <p:grpSp>
        <p:nvGrpSpPr>
          <p:cNvPr id="198" name="Group 198"/>
          <p:cNvGrpSpPr/>
          <p:nvPr/>
        </p:nvGrpSpPr>
        <p:grpSpPr>
          <a:xfrm>
            <a:off x="4159196" y="8661559"/>
            <a:ext cx="2539441" cy="329441"/>
            <a:chOff x="0" y="0"/>
            <a:chExt cx="3385922" cy="439255"/>
          </a:xfrm>
        </p:grpSpPr>
        <p:sp>
          <p:nvSpPr>
            <p:cNvPr id="199" name="Freeform 199"/>
            <p:cNvSpPr/>
            <p:nvPr/>
          </p:nvSpPr>
          <p:spPr>
            <a:xfrm>
              <a:off x="0" y="0"/>
              <a:ext cx="3385925" cy="439255"/>
            </a:xfrm>
            <a:custGeom>
              <a:avLst/>
              <a:gdLst/>
              <a:ahLst/>
              <a:cxnLst/>
              <a:rect l="l" t="t" r="r" b="b"/>
              <a:pathLst>
                <a:path w="3385925" h="439255">
                  <a:moveTo>
                    <a:pt x="0" y="0"/>
                  </a:moveTo>
                  <a:lnTo>
                    <a:pt x="3385925" y="0"/>
                  </a:lnTo>
                  <a:lnTo>
                    <a:pt x="3385925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100197" b="-100196"/>
              </a:stretch>
            </a:blipFill>
          </p:spPr>
        </p:sp>
        <p:sp>
          <p:nvSpPr>
            <p:cNvPr id="200" name="TextBox 200"/>
            <p:cNvSpPr txBox="1"/>
            <p:nvPr/>
          </p:nvSpPr>
          <p:spPr>
            <a:xfrm>
              <a:off x="0" y="0"/>
              <a:ext cx="3385922" cy="4392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11"/>
                </a:lnSpc>
              </a:pPr>
              <a:r>
                <a:rPr lang="en-US" sz="1426">
                  <a:solidFill>
                    <a:srgbClr val="F2F6FC"/>
                  </a:solidFill>
                  <a:latin typeface="Aptos"/>
                  <a:ea typeface="Aptos"/>
                  <a:cs typeface="Aptos"/>
                  <a:sym typeface="Aptos"/>
                </a:rPr>
                <a:t>Dizziness</a:t>
              </a:r>
            </a:p>
          </p:txBody>
        </p:sp>
      </p:grpSp>
      <p:grpSp>
        <p:nvGrpSpPr>
          <p:cNvPr id="201" name="Group 201"/>
          <p:cNvGrpSpPr/>
          <p:nvPr/>
        </p:nvGrpSpPr>
        <p:grpSpPr>
          <a:xfrm>
            <a:off x="6904539" y="8661559"/>
            <a:ext cx="892235" cy="329441"/>
            <a:chOff x="0" y="0"/>
            <a:chExt cx="1189647" cy="439255"/>
          </a:xfrm>
        </p:grpSpPr>
        <p:sp>
          <p:nvSpPr>
            <p:cNvPr id="202" name="Freeform 202"/>
            <p:cNvSpPr/>
            <p:nvPr/>
          </p:nvSpPr>
          <p:spPr>
            <a:xfrm>
              <a:off x="0" y="0"/>
              <a:ext cx="1189649" cy="439255"/>
            </a:xfrm>
            <a:custGeom>
              <a:avLst/>
              <a:gdLst/>
              <a:ahLst/>
              <a:cxnLst/>
              <a:rect l="l" t="t" r="r" b="b"/>
              <a:pathLst>
                <a:path w="1189649" h="439255">
                  <a:moveTo>
                    <a:pt x="0" y="0"/>
                  </a:moveTo>
                  <a:lnTo>
                    <a:pt x="1189649" y="0"/>
                  </a:lnTo>
                  <a:lnTo>
                    <a:pt x="1189649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771" b="-2771"/>
              </a:stretch>
            </a:blipFill>
          </p:spPr>
        </p:sp>
        <p:sp>
          <p:nvSpPr>
            <p:cNvPr id="203" name="TextBox 203"/>
            <p:cNvSpPr txBox="1"/>
            <p:nvPr/>
          </p:nvSpPr>
          <p:spPr>
            <a:xfrm>
              <a:off x="0" y="0"/>
              <a:ext cx="1189647" cy="4392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11"/>
                </a:lnSpc>
              </a:pPr>
              <a:r>
                <a:rPr lang="en-US" sz="1426">
                  <a:solidFill>
                    <a:srgbClr val="F2F6FC"/>
                  </a:solidFill>
                  <a:latin typeface="Aptos"/>
                  <a:ea typeface="Aptos"/>
                  <a:cs typeface="Aptos"/>
                  <a:sym typeface="Aptos"/>
                </a:rPr>
                <a:t>1.48</a:t>
              </a:r>
            </a:p>
          </p:txBody>
        </p:sp>
      </p:grpSp>
      <p:grpSp>
        <p:nvGrpSpPr>
          <p:cNvPr id="204" name="Group 204"/>
          <p:cNvGrpSpPr/>
          <p:nvPr/>
        </p:nvGrpSpPr>
        <p:grpSpPr>
          <a:xfrm>
            <a:off x="8071314" y="8661559"/>
            <a:ext cx="892235" cy="329441"/>
            <a:chOff x="0" y="0"/>
            <a:chExt cx="1189647" cy="439255"/>
          </a:xfrm>
        </p:grpSpPr>
        <p:sp>
          <p:nvSpPr>
            <p:cNvPr id="205" name="Freeform 205"/>
            <p:cNvSpPr/>
            <p:nvPr/>
          </p:nvSpPr>
          <p:spPr>
            <a:xfrm>
              <a:off x="0" y="0"/>
              <a:ext cx="1189649" cy="439255"/>
            </a:xfrm>
            <a:custGeom>
              <a:avLst/>
              <a:gdLst/>
              <a:ahLst/>
              <a:cxnLst/>
              <a:rect l="l" t="t" r="r" b="b"/>
              <a:pathLst>
                <a:path w="1189649" h="439255">
                  <a:moveTo>
                    <a:pt x="0" y="0"/>
                  </a:moveTo>
                  <a:lnTo>
                    <a:pt x="1189649" y="0"/>
                  </a:lnTo>
                  <a:lnTo>
                    <a:pt x="1189649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2771" b="-2771"/>
              </a:stretch>
            </a:blipFill>
          </p:spPr>
        </p:sp>
        <p:sp>
          <p:nvSpPr>
            <p:cNvPr id="206" name="TextBox 206"/>
            <p:cNvSpPr txBox="1"/>
            <p:nvPr/>
          </p:nvSpPr>
          <p:spPr>
            <a:xfrm>
              <a:off x="0" y="0"/>
              <a:ext cx="1189647" cy="439255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711"/>
                </a:lnSpc>
              </a:pPr>
              <a:r>
                <a:rPr lang="en-US" sz="1426">
                  <a:solidFill>
                    <a:srgbClr val="F2F6FC"/>
                  </a:solidFill>
                  <a:latin typeface="Aptos"/>
                  <a:ea typeface="Aptos"/>
                  <a:cs typeface="Aptos"/>
                  <a:sym typeface="Aptos"/>
                </a:rPr>
                <a:t>1.52</a:t>
              </a:r>
            </a:p>
          </p:txBody>
        </p:sp>
      </p:grpSp>
      <p:grpSp>
        <p:nvGrpSpPr>
          <p:cNvPr id="207" name="Group 207"/>
          <p:cNvGrpSpPr/>
          <p:nvPr/>
        </p:nvGrpSpPr>
        <p:grpSpPr>
          <a:xfrm>
            <a:off x="9306716" y="8661559"/>
            <a:ext cx="1441304" cy="329441"/>
            <a:chOff x="0" y="0"/>
            <a:chExt cx="1921739" cy="439255"/>
          </a:xfrm>
        </p:grpSpPr>
        <p:sp>
          <p:nvSpPr>
            <p:cNvPr id="208" name="Freeform 208"/>
            <p:cNvSpPr/>
            <p:nvPr/>
          </p:nvSpPr>
          <p:spPr>
            <a:xfrm>
              <a:off x="0" y="0"/>
              <a:ext cx="1921741" cy="439255"/>
            </a:xfrm>
            <a:custGeom>
              <a:avLst/>
              <a:gdLst/>
              <a:ahLst/>
              <a:cxnLst/>
              <a:rect l="l" t="t" r="r" b="b"/>
              <a:pathLst>
                <a:path w="1921741" h="439255">
                  <a:moveTo>
                    <a:pt x="0" y="0"/>
                  </a:moveTo>
                  <a:lnTo>
                    <a:pt x="1921741" y="0"/>
                  </a:lnTo>
                  <a:lnTo>
                    <a:pt x="1921741" y="439255"/>
                  </a:lnTo>
                  <a:lnTo>
                    <a:pt x="0" y="439255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5246" b="-35246"/>
              </a:stretch>
            </a:blipFill>
          </p:spPr>
        </p:sp>
        <p:sp>
          <p:nvSpPr>
            <p:cNvPr id="209" name="TextBox 209"/>
            <p:cNvSpPr txBox="1"/>
            <p:nvPr/>
          </p:nvSpPr>
          <p:spPr>
            <a:xfrm>
              <a:off x="0" y="-9525"/>
              <a:ext cx="1921739" cy="44878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1"/>
                </a:lnSpc>
              </a:pPr>
              <a:r>
                <a:rPr lang="en-US" sz="1351" b="1">
                  <a:solidFill>
                    <a:srgbClr val="39D3B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WATCH</a:t>
              </a:r>
            </a:p>
          </p:txBody>
        </p:sp>
      </p:grpSp>
      <p:grpSp>
        <p:nvGrpSpPr>
          <p:cNvPr id="210" name="Group 210"/>
          <p:cNvGrpSpPr/>
          <p:nvPr/>
        </p:nvGrpSpPr>
        <p:grpSpPr>
          <a:xfrm>
            <a:off x="14481696" y="6794725"/>
            <a:ext cx="2470814" cy="384353"/>
            <a:chOff x="0" y="0"/>
            <a:chExt cx="3294418" cy="512470"/>
          </a:xfrm>
        </p:grpSpPr>
        <p:sp>
          <p:nvSpPr>
            <p:cNvPr id="211" name="Freeform 211"/>
            <p:cNvSpPr/>
            <p:nvPr/>
          </p:nvSpPr>
          <p:spPr>
            <a:xfrm>
              <a:off x="0" y="0"/>
              <a:ext cx="3294414" cy="512464"/>
            </a:xfrm>
            <a:custGeom>
              <a:avLst/>
              <a:gdLst/>
              <a:ahLst/>
              <a:cxnLst/>
              <a:rect l="l" t="t" r="r" b="b"/>
              <a:pathLst>
                <a:path w="3294414" h="512464">
                  <a:moveTo>
                    <a:pt x="0" y="0"/>
                  </a:moveTo>
                  <a:lnTo>
                    <a:pt x="3294414" y="0"/>
                  </a:lnTo>
                  <a:lnTo>
                    <a:pt x="3294414" y="512464"/>
                  </a:lnTo>
                  <a:lnTo>
                    <a:pt x="0" y="512464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5260" b="-75261"/>
              </a:stretch>
            </a:blipFill>
          </p:spPr>
        </p:sp>
        <p:sp>
          <p:nvSpPr>
            <p:cNvPr id="212" name="TextBox 212"/>
            <p:cNvSpPr txBox="1"/>
            <p:nvPr/>
          </p:nvSpPr>
          <p:spPr>
            <a:xfrm>
              <a:off x="0" y="0"/>
              <a:ext cx="3294418" cy="51247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981"/>
                </a:lnSpc>
              </a:pPr>
              <a:r>
                <a:rPr lang="en-US" sz="1651" b="1">
                  <a:solidFill>
                    <a:srgbClr val="F2F6F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Reporting trend</a:t>
              </a:r>
            </a:p>
          </p:txBody>
        </p:sp>
      </p:grpSp>
      <p:grpSp>
        <p:nvGrpSpPr>
          <p:cNvPr id="213" name="Group 213"/>
          <p:cNvGrpSpPr/>
          <p:nvPr/>
        </p:nvGrpSpPr>
        <p:grpSpPr>
          <a:xfrm>
            <a:off x="14433366" y="7240562"/>
            <a:ext cx="2457660" cy="1908591"/>
            <a:chOff x="0" y="0"/>
            <a:chExt cx="3276879" cy="2544788"/>
          </a:xfrm>
        </p:grpSpPr>
        <p:sp>
          <p:nvSpPr>
            <p:cNvPr id="214" name="Freeform 214"/>
            <p:cNvSpPr/>
            <p:nvPr/>
          </p:nvSpPr>
          <p:spPr>
            <a:xfrm>
              <a:off x="0" y="0"/>
              <a:ext cx="3276981" cy="2544826"/>
            </a:xfrm>
            <a:custGeom>
              <a:avLst/>
              <a:gdLst/>
              <a:ahLst/>
              <a:cxnLst/>
              <a:rect l="l" t="t" r="r" b="b"/>
              <a:pathLst>
                <a:path w="3276981" h="2544826">
                  <a:moveTo>
                    <a:pt x="0" y="305435"/>
                  </a:moveTo>
                  <a:cubicBezTo>
                    <a:pt x="0" y="136779"/>
                    <a:pt x="136779" y="0"/>
                    <a:pt x="305435" y="0"/>
                  </a:cubicBezTo>
                  <a:lnTo>
                    <a:pt x="2971546" y="0"/>
                  </a:lnTo>
                  <a:cubicBezTo>
                    <a:pt x="3140202" y="0"/>
                    <a:pt x="3276981" y="136779"/>
                    <a:pt x="3276981" y="305435"/>
                  </a:cubicBezTo>
                  <a:lnTo>
                    <a:pt x="3276981" y="2239391"/>
                  </a:lnTo>
                  <a:cubicBezTo>
                    <a:pt x="3276981" y="2408047"/>
                    <a:pt x="3140202" y="2544826"/>
                    <a:pt x="2971546" y="2544826"/>
                  </a:cubicBezTo>
                  <a:lnTo>
                    <a:pt x="305435" y="2544826"/>
                  </a:lnTo>
                  <a:cubicBezTo>
                    <a:pt x="136779" y="2544826"/>
                    <a:pt x="0" y="2408047"/>
                    <a:pt x="0" y="2239391"/>
                  </a:cubicBezTo>
                  <a:close/>
                </a:path>
              </a:pathLst>
            </a:custGeom>
            <a:solidFill>
              <a:srgbClr val="080F1E"/>
            </a:solidFill>
            <a:ln w="14299" cap="sq">
              <a:solidFill>
                <a:srgbClr val="080F1E"/>
              </a:solidFill>
              <a:prstDash val="solid"/>
              <a:miter/>
            </a:ln>
          </p:spPr>
        </p:sp>
      </p:grpSp>
      <p:sp>
        <p:nvSpPr>
          <p:cNvPr id="215" name="AutoShape 215"/>
          <p:cNvSpPr/>
          <p:nvPr/>
        </p:nvSpPr>
        <p:spPr>
          <a:xfrm rot="35520">
            <a:off x="14746643" y="8739159"/>
            <a:ext cx="1844821" cy="0"/>
          </a:xfrm>
          <a:prstGeom prst="line">
            <a:avLst/>
          </a:prstGeom>
          <a:ln w="9525" cap="rnd">
            <a:solidFill>
              <a:srgbClr val="9FAEC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6" name="AutoShape 216"/>
          <p:cNvSpPr/>
          <p:nvPr/>
        </p:nvSpPr>
        <p:spPr>
          <a:xfrm rot="5344740">
            <a:off x="14163237" y="8155772"/>
            <a:ext cx="1185986" cy="0"/>
          </a:xfrm>
          <a:prstGeom prst="line">
            <a:avLst/>
          </a:prstGeom>
          <a:ln w="9525" cap="rnd">
            <a:solidFill>
              <a:srgbClr val="9FAEC6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7" name="AutoShape 217"/>
          <p:cNvSpPr/>
          <p:nvPr/>
        </p:nvSpPr>
        <p:spPr>
          <a:xfrm rot="-932280">
            <a:off x="14765645" y="8530600"/>
            <a:ext cx="434150" cy="0"/>
          </a:xfrm>
          <a:prstGeom prst="line">
            <a:avLst/>
          </a:prstGeom>
          <a:ln w="28575" cap="rnd">
            <a:solidFill>
              <a:srgbClr val="39D3B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8" name="AutoShape 218"/>
          <p:cNvSpPr/>
          <p:nvPr/>
        </p:nvSpPr>
        <p:spPr>
          <a:xfrm rot="-1818300">
            <a:off x="15115442" y="8413918"/>
            <a:ext cx="420891" cy="0"/>
          </a:xfrm>
          <a:prstGeom prst="line">
            <a:avLst/>
          </a:prstGeom>
          <a:ln w="28575" cap="rnd">
            <a:solidFill>
              <a:srgbClr val="39D3B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19" name="AutoShape 219"/>
          <p:cNvSpPr/>
          <p:nvPr/>
        </p:nvSpPr>
        <p:spPr>
          <a:xfrm rot="980940">
            <a:off x="15452550" y="8359016"/>
            <a:ext cx="364388" cy="0"/>
          </a:xfrm>
          <a:prstGeom prst="line">
            <a:avLst/>
          </a:prstGeom>
          <a:ln w="28575" cap="rnd">
            <a:solidFill>
              <a:srgbClr val="39D3B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0" name="AutoShape 220"/>
          <p:cNvSpPr/>
          <p:nvPr/>
        </p:nvSpPr>
        <p:spPr>
          <a:xfrm rot="-3163740">
            <a:off x="15648041" y="8180565"/>
            <a:ext cx="577377" cy="0"/>
          </a:xfrm>
          <a:prstGeom prst="line">
            <a:avLst/>
          </a:prstGeom>
          <a:ln w="28575" cap="rnd">
            <a:solidFill>
              <a:srgbClr val="39D3B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1" name="AutoShape 221"/>
          <p:cNvSpPr/>
          <p:nvPr/>
        </p:nvSpPr>
        <p:spPr>
          <a:xfrm rot="-2066820">
            <a:off x="16026717" y="7878575"/>
            <a:ext cx="424005" cy="0"/>
          </a:xfrm>
          <a:prstGeom prst="line">
            <a:avLst/>
          </a:prstGeom>
          <a:ln w="28575" cap="rnd">
            <a:solidFill>
              <a:srgbClr val="39D3BE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222" name="AutoShape 222"/>
          <p:cNvSpPr/>
          <p:nvPr/>
        </p:nvSpPr>
        <p:spPr>
          <a:xfrm rot="-2462820">
            <a:off x="16331260" y="7713859"/>
            <a:ext cx="281616" cy="0"/>
          </a:xfrm>
          <a:prstGeom prst="line">
            <a:avLst/>
          </a:prstGeom>
          <a:ln w="28575" cap="rnd">
            <a:solidFill>
              <a:srgbClr val="39D3BE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223" name="Group 223"/>
          <p:cNvGrpSpPr/>
          <p:nvPr/>
        </p:nvGrpSpPr>
        <p:grpSpPr>
          <a:xfrm>
            <a:off x="12141003" y="7542552"/>
            <a:ext cx="1908591" cy="1359522"/>
            <a:chOff x="0" y="0"/>
            <a:chExt cx="2544788" cy="1812696"/>
          </a:xfrm>
        </p:grpSpPr>
        <p:sp>
          <p:nvSpPr>
            <p:cNvPr id="224" name="Freeform 224"/>
            <p:cNvSpPr/>
            <p:nvPr/>
          </p:nvSpPr>
          <p:spPr>
            <a:xfrm>
              <a:off x="0" y="0"/>
              <a:ext cx="2544826" cy="1812671"/>
            </a:xfrm>
            <a:custGeom>
              <a:avLst/>
              <a:gdLst/>
              <a:ahLst/>
              <a:cxnLst/>
              <a:rect l="l" t="t" r="r" b="b"/>
              <a:pathLst>
                <a:path w="2544826" h="1812671">
                  <a:moveTo>
                    <a:pt x="0" y="217551"/>
                  </a:moveTo>
                  <a:cubicBezTo>
                    <a:pt x="0" y="97409"/>
                    <a:pt x="97409" y="0"/>
                    <a:pt x="217551" y="0"/>
                  </a:cubicBezTo>
                  <a:lnTo>
                    <a:pt x="2327275" y="0"/>
                  </a:lnTo>
                  <a:cubicBezTo>
                    <a:pt x="2447417" y="0"/>
                    <a:pt x="2544826" y="97409"/>
                    <a:pt x="2544826" y="217551"/>
                  </a:cubicBezTo>
                  <a:lnTo>
                    <a:pt x="2544826" y="1595120"/>
                  </a:lnTo>
                  <a:cubicBezTo>
                    <a:pt x="2544826" y="1715262"/>
                    <a:pt x="2447417" y="1812671"/>
                    <a:pt x="2327275" y="1812671"/>
                  </a:cubicBezTo>
                  <a:lnTo>
                    <a:pt x="217551" y="1812671"/>
                  </a:lnTo>
                  <a:cubicBezTo>
                    <a:pt x="97409" y="1812671"/>
                    <a:pt x="0" y="1715262"/>
                    <a:pt x="0" y="1595120"/>
                  </a:cubicBezTo>
                  <a:close/>
                </a:path>
              </a:pathLst>
            </a:custGeom>
            <a:solidFill>
              <a:srgbClr val="17243D"/>
            </a:solidFill>
            <a:ln w="14299" cap="sq">
              <a:solidFill>
                <a:srgbClr val="17243D"/>
              </a:solidFill>
              <a:prstDash val="solid"/>
              <a:miter/>
            </a:ln>
          </p:spPr>
        </p:sp>
      </p:grpSp>
      <p:grpSp>
        <p:nvGrpSpPr>
          <p:cNvPr id="225" name="Group 225"/>
          <p:cNvGrpSpPr/>
          <p:nvPr/>
        </p:nvGrpSpPr>
        <p:grpSpPr>
          <a:xfrm>
            <a:off x="12381509" y="7714421"/>
            <a:ext cx="754971" cy="247079"/>
            <a:chOff x="0" y="0"/>
            <a:chExt cx="1006627" cy="329438"/>
          </a:xfrm>
        </p:grpSpPr>
        <p:sp>
          <p:nvSpPr>
            <p:cNvPr id="226" name="Freeform 226"/>
            <p:cNvSpPr/>
            <p:nvPr/>
          </p:nvSpPr>
          <p:spPr>
            <a:xfrm>
              <a:off x="0" y="0"/>
              <a:ext cx="1006626" cy="329441"/>
            </a:xfrm>
            <a:custGeom>
              <a:avLst/>
              <a:gdLst/>
              <a:ahLst/>
              <a:cxnLst/>
              <a:rect l="l" t="t" r="r" b="b"/>
              <a:pathLst>
                <a:path w="1006626" h="329441">
                  <a:moveTo>
                    <a:pt x="0" y="0"/>
                  </a:moveTo>
                  <a:lnTo>
                    <a:pt x="1006626" y="0"/>
                  </a:lnTo>
                  <a:lnTo>
                    <a:pt x="1006626" y="329441"/>
                  </a:lnTo>
                  <a:lnTo>
                    <a:pt x="0" y="329441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538" b="-9537"/>
              </a:stretch>
            </a:blipFill>
          </p:spPr>
        </p:sp>
        <p:sp>
          <p:nvSpPr>
            <p:cNvPr id="227" name="TextBox 227"/>
            <p:cNvSpPr txBox="1"/>
            <p:nvPr/>
          </p:nvSpPr>
          <p:spPr>
            <a:xfrm>
              <a:off x="0" y="0"/>
              <a:ext cx="1006627" cy="32943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351"/>
                </a:lnSpc>
              </a:pPr>
              <a:r>
                <a:rPr lang="en-US" sz="1125" b="1">
                  <a:solidFill>
                    <a:srgbClr val="9FAEC6"/>
                  </a:solidFill>
                  <a:latin typeface="Aptos Bold"/>
                  <a:ea typeface="Aptos Bold"/>
                  <a:cs typeface="Aptos Bold"/>
                  <a:sym typeface="Aptos Bold"/>
                </a:rPr>
                <a:t>NEXT</a:t>
              </a:r>
            </a:p>
          </p:txBody>
        </p:sp>
      </p:grpSp>
      <p:grpSp>
        <p:nvGrpSpPr>
          <p:cNvPr id="228" name="Group 228"/>
          <p:cNvGrpSpPr/>
          <p:nvPr/>
        </p:nvGrpSpPr>
        <p:grpSpPr>
          <a:xfrm>
            <a:off x="12381509" y="7988951"/>
            <a:ext cx="754971" cy="343167"/>
            <a:chOff x="0" y="0"/>
            <a:chExt cx="1006627" cy="457556"/>
          </a:xfrm>
        </p:grpSpPr>
        <p:sp>
          <p:nvSpPr>
            <p:cNvPr id="229" name="Freeform 229"/>
            <p:cNvSpPr/>
            <p:nvPr/>
          </p:nvSpPr>
          <p:spPr>
            <a:xfrm>
              <a:off x="0" y="0"/>
              <a:ext cx="1006626" cy="457557"/>
            </a:xfrm>
            <a:custGeom>
              <a:avLst/>
              <a:gdLst/>
              <a:ahLst/>
              <a:cxnLst/>
              <a:rect l="l" t="t" r="r" b="b"/>
              <a:pathLst>
                <a:path w="1006626" h="457557">
                  <a:moveTo>
                    <a:pt x="0" y="0"/>
                  </a:moveTo>
                  <a:lnTo>
                    <a:pt x="1006626" y="0"/>
                  </a:lnTo>
                  <a:lnTo>
                    <a:pt x="1006626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8319" r="-8319"/>
              </a:stretch>
            </a:blipFill>
          </p:spPr>
        </p:sp>
        <p:sp>
          <p:nvSpPr>
            <p:cNvPr id="230" name="TextBox 230"/>
            <p:cNvSpPr txBox="1"/>
            <p:nvPr/>
          </p:nvSpPr>
          <p:spPr>
            <a:xfrm>
              <a:off x="0" y="0"/>
              <a:ext cx="1006627" cy="457556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2341"/>
                </a:lnSpc>
              </a:pPr>
              <a:r>
                <a:rPr lang="en-US" sz="1951" b="1">
                  <a:solidFill>
                    <a:srgbClr val="4AD28B"/>
                  </a:solidFill>
                  <a:latin typeface="Aptos Bold"/>
                  <a:ea typeface="Aptos Bold"/>
                  <a:cs typeface="Aptos Bold"/>
                  <a:sym typeface="Aptos Bold"/>
                </a:rPr>
                <a:t>CTD</a:t>
              </a:r>
            </a:p>
          </p:txBody>
        </p:sp>
      </p:grpSp>
      <p:grpSp>
        <p:nvGrpSpPr>
          <p:cNvPr id="231" name="Group 231"/>
          <p:cNvGrpSpPr/>
          <p:nvPr/>
        </p:nvGrpSpPr>
        <p:grpSpPr>
          <a:xfrm>
            <a:off x="12381509" y="8373304"/>
            <a:ext cx="1304039" cy="274539"/>
            <a:chOff x="0" y="0"/>
            <a:chExt cx="1738719" cy="366052"/>
          </a:xfrm>
        </p:grpSpPr>
        <p:sp>
          <p:nvSpPr>
            <p:cNvPr id="232" name="Freeform 232"/>
            <p:cNvSpPr/>
            <p:nvPr/>
          </p:nvSpPr>
          <p:spPr>
            <a:xfrm>
              <a:off x="0" y="0"/>
              <a:ext cx="1738718" cy="366046"/>
            </a:xfrm>
            <a:custGeom>
              <a:avLst/>
              <a:gdLst/>
              <a:ahLst/>
              <a:cxnLst/>
              <a:rect l="l" t="t" r="r" b="b"/>
              <a:pathLst>
                <a:path w="1738718" h="366046">
                  <a:moveTo>
                    <a:pt x="0" y="0"/>
                  </a:moveTo>
                  <a:lnTo>
                    <a:pt x="1738718" y="0"/>
                  </a:lnTo>
                  <a:lnTo>
                    <a:pt x="1738718" y="366046"/>
                  </a:lnTo>
                  <a:lnTo>
                    <a:pt x="0" y="366046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42553" b="-42554"/>
              </a:stretch>
            </a:blipFill>
          </p:spPr>
        </p:sp>
        <p:sp>
          <p:nvSpPr>
            <p:cNvPr id="233" name="TextBox 233"/>
            <p:cNvSpPr txBox="1"/>
            <p:nvPr/>
          </p:nvSpPr>
          <p:spPr>
            <a:xfrm>
              <a:off x="0" y="-9525"/>
              <a:ext cx="1738719" cy="375577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531"/>
                </a:lnSpc>
              </a:pPr>
              <a:r>
                <a:rPr lang="en-US" sz="1275" b="1">
                  <a:solidFill>
                    <a:srgbClr val="F2F6F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readiness</a:t>
              </a:r>
            </a:p>
          </p:txBody>
        </p:sp>
      </p:grpSp>
      <p:grpSp>
        <p:nvGrpSpPr>
          <p:cNvPr id="234" name="Group 234"/>
          <p:cNvGrpSpPr/>
          <p:nvPr/>
        </p:nvGrpSpPr>
        <p:grpSpPr>
          <a:xfrm>
            <a:off x="11825288" y="8475964"/>
            <a:ext cx="5093189" cy="673179"/>
            <a:chOff x="0" y="0"/>
            <a:chExt cx="6790919" cy="897572"/>
          </a:xfrm>
        </p:grpSpPr>
        <p:sp>
          <p:nvSpPr>
            <p:cNvPr id="235" name="Freeform 235"/>
            <p:cNvSpPr/>
            <p:nvPr/>
          </p:nvSpPr>
          <p:spPr>
            <a:xfrm>
              <a:off x="0" y="0"/>
              <a:ext cx="6790944" cy="897509"/>
            </a:xfrm>
            <a:custGeom>
              <a:avLst/>
              <a:gdLst/>
              <a:ahLst/>
              <a:cxnLst/>
              <a:rect l="l" t="t" r="r" b="b"/>
              <a:pathLst>
                <a:path w="6790944" h="897509">
                  <a:moveTo>
                    <a:pt x="0" y="107696"/>
                  </a:moveTo>
                  <a:cubicBezTo>
                    <a:pt x="0" y="48260"/>
                    <a:pt x="48260" y="0"/>
                    <a:pt x="107696" y="0"/>
                  </a:cubicBezTo>
                  <a:lnTo>
                    <a:pt x="6683248" y="0"/>
                  </a:lnTo>
                  <a:cubicBezTo>
                    <a:pt x="6742684" y="0"/>
                    <a:pt x="6790944" y="48260"/>
                    <a:pt x="6790944" y="107696"/>
                  </a:cubicBezTo>
                  <a:lnTo>
                    <a:pt x="6790944" y="789813"/>
                  </a:lnTo>
                  <a:cubicBezTo>
                    <a:pt x="6790944" y="849249"/>
                    <a:pt x="6742684" y="897509"/>
                    <a:pt x="6683248" y="897509"/>
                  </a:cubicBezTo>
                  <a:lnTo>
                    <a:pt x="107696" y="897509"/>
                  </a:lnTo>
                  <a:cubicBezTo>
                    <a:pt x="48260" y="897636"/>
                    <a:pt x="0" y="849376"/>
                    <a:pt x="0" y="789813"/>
                  </a:cubicBezTo>
                  <a:close/>
                </a:path>
              </a:pathLst>
            </a:custGeom>
            <a:solidFill>
              <a:srgbClr val="4AD28B"/>
            </a:solidFill>
            <a:ln w="14299" cap="sq">
              <a:solidFill>
                <a:srgbClr val="4AD28B"/>
              </a:solidFill>
              <a:prstDash val="solid"/>
              <a:miter/>
            </a:ln>
          </p:spPr>
        </p:sp>
      </p:grpSp>
      <p:grpSp>
        <p:nvGrpSpPr>
          <p:cNvPr id="236" name="Group 236"/>
          <p:cNvGrpSpPr/>
          <p:nvPr/>
        </p:nvGrpSpPr>
        <p:grpSpPr>
          <a:xfrm>
            <a:off x="12052059" y="8496843"/>
            <a:ext cx="4639637" cy="617706"/>
            <a:chOff x="0" y="0"/>
            <a:chExt cx="6186183" cy="823608"/>
          </a:xfrm>
        </p:grpSpPr>
        <p:sp>
          <p:nvSpPr>
            <p:cNvPr id="237" name="Freeform 237"/>
            <p:cNvSpPr/>
            <p:nvPr/>
          </p:nvSpPr>
          <p:spPr>
            <a:xfrm>
              <a:off x="0" y="0"/>
              <a:ext cx="6186177" cy="823603"/>
            </a:xfrm>
            <a:custGeom>
              <a:avLst/>
              <a:gdLst/>
              <a:ahLst/>
              <a:cxnLst/>
              <a:rect l="l" t="t" r="r" b="b"/>
              <a:pathLst>
                <a:path w="6186177" h="823603">
                  <a:moveTo>
                    <a:pt x="0" y="0"/>
                  </a:moveTo>
                  <a:lnTo>
                    <a:pt x="6186177" y="0"/>
                  </a:lnTo>
                  <a:lnTo>
                    <a:pt x="6186177" y="823603"/>
                  </a:lnTo>
                  <a:lnTo>
                    <a:pt x="0" y="823603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96354" b="-96354"/>
              </a:stretch>
            </a:blipFill>
          </p:spPr>
        </p:sp>
        <p:sp>
          <p:nvSpPr>
            <p:cNvPr id="238" name="TextBox 238"/>
            <p:cNvSpPr txBox="1"/>
            <p:nvPr/>
          </p:nvSpPr>
          <p:spPr>
            <a:xfrm>
              <a:off x="0" y="0"/>
              <a:ext cx="6186183" cy="823608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ctr">
                <a:lnSpc>
                  <a:spcPts val="1711"/>
                </a:lnSpc>
              </a:pPr>
              <a:r>
                <a:rPr lang="en-US" sz="1426" b="1">
                  <a:solidFill>
                    <a:srgbClr val="080F1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RUN SUBMISSION READINESS ASSESSMENT  →</a:t>
              </a:r>
            </a:p>
          </p:txBody>
        </p:sp>
      </p:grpSp>
      <p:grpSp>
        <p:nvGrpSpPr>
          <p:cNvPr id="239" name="Group 239"/>
          <p:cNvGrpSpPr/>
          <p:nvPr/>
        </p:nvGrpSpPr>
        <p:grpSpPr>
          <a:xfrm>
            <a:off x="981170" y="9532925"/>
            <a:ext cx="16349101" cy="481003"/>
            <a:chOff x="0" y="0"/>
            <a:chExt cx="21798801" cy="641337"/>
          </a:xfrm>
        </p:grpSpPr>
        <p:sp>
          <p:nvSpPr>
            <p:cNvPr id="240" name="Freeform 240"/>
            <p:cNvSpPr/>
            <p:nvPr/>
          </p:nvSpPr>
          <p:spPr>
            <a:xfrm>
              <a:off x="0" y="0"/>
              <a:ext cx="21798789" cy="641350"/>
            </a:xfrm>
            <a:custGeom>
              <a:avLst/>
              <a:gdLst/>
              <a:ahLst/>
              <a:cxnLst/>
              <a:rect l="l" t="t" r="r" b="b"/>
              <a:pathLst>
                <a:path w="21798789" h="641350">
                  <a:moveTo>
                    <a:pt x="0" y="76962"/>
                  </a:moveTo>
                  <a:cubicBezTo>
                    <a:pt x="0" y="34417"/>
                    <a:pt x="34417" y="0"/>
                    <a:pt x="76962" y="0"/>
                  </a:cubicBezTo>
                  <a:lnTo>
                    <a:pt x="21721826" y="0"/>
                  </a:lnTo>
                  <a:cubicBezTo>
                    <a:pt x="21764371" y="0"/>
                    <a:pt x="21798789" y="34417"/>
                    <a:pt x="21798789" y="76962"/>
                  </a:cubicBezTo>
                  <a:lnTo>
                    <a:pt x="21798789" y="564388"/>
                  </a:lnTo>
                  <a:cubicBezTo>
                    <a:pt x="21798789" y="606933"/>
                    <a:pt x="21764371" y="641350"/>
                    <a:pt x="21721826" y="641350"/>
                  </a:cubicBezTo>
                  <a:lnTo>
                    <a:pt x="76962" y="641350"/>
                  </a:lnTo>
                  <a:cubicBezTo>
                    <a:pt x="34417" y="641350"/>
                    <a:pt x="0" y="606933"/>
                    <a:pt x="0" y="564388"/>
                  </a:cubicBezTo>
                  <a:close/>
                </a:path>
              </a:pathLst>
            </a:custGeom>
            <a:solidFill>
              <a:srgbClr val="080F1E"/>
            </a:solidFill>
            <a:ln w="14299" cap="sq">
              <a:solidFill>
                <a:srgbClr val="080F1E"/>
              </a:solidFill>
              <a:prstDash val="solid"/>
              <a:miter/>
            </a:ln>
          </p:spPr>
        </p:sp>
      </p:grpSp>
      <p:grpSp>
        <p:nvGrpSpPr>
          <p:cNvPr id="241" name="Group 241"/>
          <p:cNvGrpSpPr/>
          <p:nvPr/>
        </p:nvGrpSpPr>
        <p:grpSpPr>
          <a:xfrm>
            <a:off x="1235402" y="9553804"/>
            <a:ext cx="1441304" cy="343167"/>
            <a:chOff x="0" y="0"/>
            <a:chExt cx="1921739" cy="457556"/>
          </a:xfrm>
        </p:grpSpPr>
        <p:sp>
          <p:nvSpPr>
            <p:cNvPr id="242" name="Freeform 242"/>
            <p:cNvSpPr/>
            <p:nvPr/>
          </p:nvSpPr>
          <p:spPr>
            <a:xfrm>
              <a:off x="0" y="0"/>
              <a:ext cx="1921741" cy="457557"/>
            </a:xfrm>
            <a:custGeom>
              <a:avLst/>
              <a:gdLst/>
              <a:ahLst/>
              <a:cxnLst/>
              <a:rect l="l" t="t" r="r" b="b"/>
              <a:pathLst>
                <a:path w="1921741" h="457557">
                  <a:moveTo>
                    <a:pt x="0" y="0"/>
                  </a:moveTo>
                  <a:lnTo>
                    <a:pt x="1921741" y="0"/>
                  </a:lnTo>
                  <a:lnTo>
                    <a:pt x="1921741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31837" b="-31836"/>
              </a:stretch>
            </a:blipFill>
          </p:spPr>
        </p:sp>
        <p:sp>
          <p:nvSpPr>
            <p:cNvPr id="243" name="TextBox 243"/>
            <p:cNvSpPr txBox="1"/>
            <p:nvPr/>
          </p:nvSpPr>
          <p:spPr>
            <a:xfrm>
              <a:off x="0" y="-9525"/>
              <a:ext cx="1921739" cy="4670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1"/>
                </a:lnSpc>
              </a:pPr>
              <a:r>
                <a:rPr lang="en-US" sz="1351" b="1">
                  <a:solidFill>
                    <a:srgbClr val="39D3BE"/>
                  </a:solidFill>
                  <a:latin typeface="Aptos Bold"/>
                  <a:ea typeface="Aptos Bold"/>
                  <a:cs typeface="Aptos Bold"/>
                  <a:sym typeface="Aptos Bold"/>
                </a:rPr>
                <a:t>Judge takeaway:</a:t>
              </a:r>
            </a:p>
          </p:txBody>
        </p:sp>
      </p:grpSp>
      <p:grpSp>
        <p:nvGrpSpPr>
          <p:cNvPr id="244" name="Group 244"/>
          <p:cNvGrpSpPr/>
          <p:nvPr/>
        </p:nvGrpSpPr>
        <p:grpSpPr>
          <a:xfrm>
            <a:off x="2745343" y="9553804"/>
            <a:ext cx="13658088" cy="343167"/>
            <a:chOff x="0" y="0"/>
            <a:chExt cx="18210784" cy="457556"/>
          </a:xfrm>
        </p:grpSpPr>
        <p:sp>
          <p:nvSpPr>
            <p:cNvPr id="245" name="Freeform 245"/>
            <p:cNvSpPr/>
            <p:nvPr/>
          </p:nvSpPr>
          <p:spPr>
            <a:xfrm>
              <a:off x="0" y="0"/>
              <a:ext cx="18210788" cy="457557"/>
            </a:xfrm>
            <a:custGeom>
              <a:avLst/>
              <a:gdLst/>
              <a:ahLst/>
              <a:cxnLst/>
              <a:rect l="l" t="t" r="r" b="b"/>
              <a:pathLst>
                <a:path w="18210788" h="457557">
                  <a:moveTo>
                    <a:pt x="0" y="0"/>
                  </a:moveTo>
                  <a:lnTo>
                    <a:pt x="18210788" y="0"/>
                  </a:lnTo>
                  <a:lnTo>
                    <a:pt x="18210788" y="457557"/>
                  </a:lnTo>
                  <a:lnTo>
                    <a:pt x="0" y="457557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t="-725504" b="-725504"/>
              </a:stretch>
            </a:blipFill>
          </p:spPr>
        </p:sp>
        <p:sp>
          <p:nvSpPr>
            <p:cNvPr id="246" name="TextBox 246"/>
            <p:cNvSpPr txBox="1"/>
            <p:nvPr/>
          </p:nvSpPr>
          <p:spPr>
            <a:xfrm>
              <a:off x="0" y="-9525"/>
              <a:ext cx="18210784" cy="467081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l">
                <a:lnSpc>
                  <a:spcPts val="1621"/>
                </a:lnSpc>
              </a:pPr>
              <a:r>
                <a:rPr lang="en-US" sz="1351" b="1">
                  <a:solidFill>
                    <a:srgbClr val="F2F6FC"/>
                  </a:solidFill>
                  <a:latin typeface="Aptos Bold"/>
                  <a:ea typeface="Aptos Bold"/>
                  <a:cs typeface="Aptos Bold"/>
                  <a:sym typeface="Aptos Bold"/>
                </a:rPr>
                <a:t>See the signal → understand the trend → prioritize the action → prepare the submission.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298</Words>
  <Application>Microsoft Office PowerPoint</Application>
  <PresentationFormat>Custom</PresentationFormat>
  <Paragraphs>113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4" baseType="lpstr">
      <vt:lpstr>Poppins Bold</vt:lpstr>
      <vt:lpstr>Times New Roman MT Semi-Bold</vt:lpstr>
      <vt:lpstr>Agbalumo</vt:lpstr>
      <vt:lpstr>Open Sans Bold</vt:lpstr>
      <vt:lpstr>Aptos Bold</vt:lpstr>
      <vt:lpstr>Calibri (MS) Bold</vt:lpstr>
      <vt:lpstr>Aprila Bold</vt:lpstr>
      <vt:lpstr>Raleway Bold</vt:lpstr>
      <vt:lpstr>Calibri</vt:lpstr>
      <vt:lpstr>Arapey</vt:lpstr>
      <vt:lpstr>Aptos</vt:lpstr>
      <vt:lpstr>Work Sans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🛡️ PharmaGuard AI</dc:title>
  <cp:lastModifiedBy>H P</cp:lastModifiedBy>
  <cp:revision>2</cp:revision>
  <dcterms:created xsi:type="dcterms:W3CDTF">2006-08-16T00:00:00Z</dcterms:created>
  <dcterms:modified xsi:type="dcterms:W3CDTF">2026-09-15T13:46:06Z</dcterms:modified>
  <dc:identifier>DAHVMDX4Nlg</dc:identifier>
</cp:coreProperties>
</file>